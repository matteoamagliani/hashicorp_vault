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4"/>
  </p:notesMasterIdLst>
  <p:sldIdLst>
    <p:sldId id="260" r:id="rId5"/>
    <p:sldId id="373" r:id="rId6"/>
    <p:sldId id="376" r:id="rId7"/>
    <p:sldId id="377" r:id="rId8"/>
    <p:sldId id="378" r:id="rId9"/>
    <p:sldId id="380" r:id="rId10"/>
    <p:sldId id="381" r:id="rId11"/>
    <p:sldId id="382" r:id="rId12"/>
    <p:sldId id="374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61733"/>
    <a:srgbClr val="E2668C"/>
    <a:srgbClr val="FF3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B28036-763C-44AD-9278-E3C88A3D11A6}" v="304" dt="2025-10-21T07:06:39.9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Stile chiaro 2 - Color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837" autoAdjust="0"/>
  </p:normalViewPr>
  <p:slideViewPr>
    <p:cSldViewPr snapToGrid="0">
      <p:cViewPr varScale="1">
        <p:scale>
          <a:sx n="70" d="100"/>
          <a:sy n="70" d="100"/>
        </p:scale>
        <p:origin x="113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C039F-F3DA-46EE-9757-8192FD8EDE67}" type="datetimeFigureOut">
              <a:t>23/01/2026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C16826-2BAC-4F49-B52C-E9DC03126A25}" type="slidenum"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8105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Today, I’ll briefly explain how this concept evolved — from its theoretical foundations to the development of more complex algorithms.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16826-2BAC-4F49-B52C-E9DC03126A25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2844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Vorrei introdurre </a:t>
            </a:r>
            <a:r>
              <a:rPr lang="it-IT" dirty="0" err="1"/>
              <a:t>Vault</a:t>
            </a:r>
            <a:r>
              <a:rPr lang="it-IT" dirty="0"/>
              <a:t> descrivendo una delle sfide in sicurezza informatica per cui </a:t>
            </a:r>
            <a:r>
              <a:rPr lang="it-IT" dirty="0" err="1"/>
              <a:t>Vault</a:t>
            </a:r>
            <a:r>
              <a:rPr lang="it-IT" dirty="0"/>
              <a:t> nasce. </a:t>
            </a:r>
          </a:p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16826-2BAC-4F49-B52C-E9DC03126A2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3882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16826-2BAC-4F49-B52C-E9DC03126A25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954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it-IT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dirty="0"/>
                  <a:t>Anno e autori: Freund &amp; </a:t>
                </a:r>
                <a:r>
                  <a:rPr lang="it-IT" dirty="0" err="1"/>
                  <a:t>Schapire</a:t>
                </a:r>
                <a:r>
                  <a:rPr lang="it-IT" dirty="0"/>
                  <a:t> (1997)</a:t>
                </a:r>
              </a:p>
              <a:p>
                <a:r>
                  <a:rPr lang="it-IT" dirty="0"/>
                  <a:t>Idee chiave (3–4 punti max):</a:t>
                </a:r>
              </a:p>
              <a:p>
                <a:pPr lvl="1"/>
                <a:r>
                  <a:rPr lang="it-IT" dirty="0" err="1"/>
                  <a:t>Sequential</a:t>
                </a:r>
                <a:r>
                  <a:rPr lang="it-IT" dirty="0"/>
                  <a:t> </a:t>
                </a:r>
                <a:r>
                  <a:rPr lang="it-IT" dirty="0" err="1"/>
                  <a:t>reweighting</a:t>
                </a:r>
                <a:r>
                  <a:rPr lang="it-IT" dirty="0"/>
                  <a:t> of data</a:t>
                </a:r>
              </a:p>
              <a:p>
                <a:pPr lvl="1"/>
                <a:r>
                  <a:rPr lang="it-IT" dirty="0" err="1"/>
                  <a:t>Emphasizes</a:t>
                </a:r>
                <a:r>
                  <a:rPr lang="it-IT" dirty="0"/>
                  <a:t> </a:t>
                </a:r>
                <a:r>
                  <a:rPr lang="it-IT" dirty="0" err="1"/>
                  <a:t>misclassified</a:t>
                </a:r>
                <a:r>
                  <a:rPr lang="it-IT" dirty="0"/>
                  <a:t> </a:t>
                </a:r>
                <a:r>
                  <a:rPr lang="it-IT" dirty="0" err="1"/>
                  <a:t>examples</a:t>
                </a:r>
                <a:endParaRPr lang="it-IT" dirty="0"/>
              </a:p>
              <a:p>
                <a:pPr lvl="1"/>
                <a:r>
                  <a:rPr lang="it-IT" dirty="0"/>
                  <a:t>Simple </a:t>
                </a:r>
                <a:r>
                  <a:rPr lang="it-IT" dirty="0" err="1"/>
                  <a:t>weak</a:t>
                </a:r>
                <a:r>
                  <a:rPr lang="it-IT" dirty="0"/>
                  <a:t> </a:t>
                </a:r>
                <a:r>
                  <a:rPr lang="it-IT" dirty="0" err="1"/>
                  <a:t>learners</a:t>
                </a:r>
                <a:r>
                  <a:rPr lang="it-IT" dirty="0"/>
                  <a:t> (</a:t>
                </a:r>
                <a:r>
                  <a:rPr lang="it-IT" dirty="0" err="1"/>
                  <a:t>stumps</a:t>
                </a:r>
                <a:r>
                  <a:rPr lang="it-IT" dirty="0"/>
                  <a:t>)</a:t>
                </a:r>
              </a:p>
              <a:p>
                <a:pPr lvl="1"/>
                <a:r>
                  <a:rPr lang="it-IT" dirty="0" err="1"/>
                  <a:t>Reduces</a:t>
                </a:r>
                <a:r>
                  <a:rPr lang="it-IT" dirty="0"/>
                  <a:t> </a:t>
                </a:r>
                <a:r>
                  <a:rPr lang="it-IT" dirty="0" err="1"/>
                  <a:t>bias</a:t>
                </a:r>
                <a:r>
                  <a:rPr lang="it-IT" dirty="0"/>
                  <a:t> and </a:t>
                </a:r>
                <a:r>
                  <a:rPr lang="it-IT" dirty="0" err="1"/>
                  <a:t>variance</a:t>
                </a:r>
                <a:r>
                  <a:rPr lang="it-IT" dirty="0"/>
                  <a:t> </a:t>
                </a:r>
                <a:r>
                  <a:rPr lang="it-IT" dirty="0" err="1"/>
                  <a:t>efficiently</a:t>
                </a:r>
                <a:endParaRPr lang="it-IT" dirty="0"/>
              </a:p>
              <a:p>
                <a:r>
                  <a:rPr lang="it-IT" dirty="0"/>
                  <a:t>Una mini-formula (solo se vuoi mostrare rigore):</a:t>
                </a:r>
                <a:br>
                  <a:rPr lang="it-IT" dirty="0"/>
                </a:br>
                <a:r>
                  <a:rPr lang="it-IT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𝐻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(𝑥)=</a:t>
                </a:r>
                <a:r>
                  <a:rPr lang="it-IT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"sign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(∑130_𝑡▒𝛼_𝑡  ℎ_𝑡 (𝑥))</a:t>
                </a:r>
                <a:endParaRPr lang="ar-AE" dirty="0"/>
              </a:p>
              <a:p>
                <a:r>
                  <a:rPr lang="it-IT" dirty="0"/>
                  <a:t>🎨 </a:t>
                </a:r>
                <a:r>
                  <a:rPr lang="it-IT" i="1" dirty="0"/>
                  <a:t>Visual</a:t>
                </a:r>
                <a:r>
                  <a:rPr lang="it-IT" dirty="0"/>
                  <a:t>: diagramma con cerchi → esempi “più pesanti” in rosso (errori).</a:t>
                </a:r>
              </a:p>
              <a:p>
                <a:endParaRPr lang="it-IT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16826-2BAC-4F49-B52C-E9DC03126A25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1132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b="1" dirty="0" err="1"/>
                  <a:t>Gradient</a:t>
                </a:r>
                <a:r>
                  <a:rPr lang="it-IT" b="1" dirty="0"/>
                  <a:t> </a:t>
                </a:r>
                <a:r>
                  <a:rPr lang="it-IT" b="1" dirty="0" err="1"/>
                  <a:t>Boosting</a:t>
                </a:r>
                <a:endParaRPr lang="it-IT" b="1" dirty="0"/>
              </a:p>
              <a:p>
                <a:r>
                  <a:rPr lang="it-IT" dirty="0"/>
                  <a:t>Like </a:t>
                </a:r>
                <a:r>
                  <a:rPr lang="it-IT" dirty="0" err="1"/>
                  <a:t>AdaBoost</a:t>
                </a:r>
                <a:r>
                  <a:rPr lang="it-IT" dirty="0"/>
                  <a:t>, </a:t>
                </a:r>
                <a:r>
                  <a:rPr lang="it-IT" b="1" dirty="0" err="1"/>
                  <a:t>Gradient</a:t>
                </a:r>
                <a:r>
                  <a:rPr lang="it-IT" b="1" dirty="0"/>
                  <a:t> </a:t>
                </a:r>
                <a:r>
                  <a:rPr lang="it-IT" b="1" dirty="0" err="1"/>
                  <a:t>Boosting</a:t>
                </a:r>
                <a:r>
                  <a:rPr lang="it-IT" dirty="0"/>
                  <a:t> builds a model </a:t>
                </a:r>
                <a:r>
                  <a:rPr lang="it-IT" dirty="0" err="1"/>
                  <a:t>as</a:t>
                </a:r>
                <a:r>
                  <a:rPr lang="it-IT" dirty="0"/>
                  <a:t> a </a:t>
                </a:r>
                <a:r>
                  <a:rPr lang="it-IT" b="1" dirty="0"/>
                  <a:t>sum of </a:t>
                </a:r>
                <a:r>
                  <a:rPr lang="it-IT" b="1" dirty="0" err="1"/>
                  <a:t>weak</a:t>
                </a:r>
                <a:r>
                  <a:rPr lang="it-IT" b="1" dirty="0"/>
                  <a:t> </a:t>
                </a:r>
                <a:r>
                  <a:rPr lang="it-IT" b="1" dirty="0" err="1"/>
                  <a:t>learners</a:t>
                </a:r>
                <a:r>
                  <a:rPr lang="it-IT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  <m:sup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𝑚</m:t>
                              </m:r>
                            </m:sub>
                          </m:sSub>
                        </m:e>
                      </m:nary>
                      <m:r>
                        <m:rPr>
                          <m:nor/>
                        </m:rPr>
                        <a:rPr lang="ar-AE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 </m:t>
                      </m:r>
                      <m:sSub>
                        <m:sSub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</m:e>
                        <m:sub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r>
                  <a:rPr lang="it-IT" dirty="0"/>
                  <a:t>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</m:oMath>
                </a14:m>
                <a:r>
                  <a:rPr lang="it-IT" dirty="0" err="1"/>
                  <a:t>is</a:t>
                </a:r>
                <a:r>
                  <a:rPr lang="it-IT" dirty="0"/>
                  <a:t> the </a:t>
                </a:r>
                <a:r>
                  <a:rPr lang="it-IT" dirty="0" err="1"/>
                  <a:t>initial</a:t>
                </a:r>
                <a:r>
                  <a:rPr lang="it-IT" dirty="0"/>
                  <a:t> </a:t>
                </a:r>
                <a:r>
                  <a:rPr lang="it-IT" dirty="0" err="1"/>
                  <a:t>prediction</a:t>
                </a:r>
                <a:r>
                  <a:rPr lang="it-IT" dirty="0"/>
                  <a:t> — </a:t>
                </a:r>
                <a:r>
                  <a:rPr lang="it-IT" dirty="0" err="1"/>
                  <a:t>usually</a:t>
                </a:r>
                <a:r>
                  <a:rPr lang="it-IT" dirty="0"/>
                  <a:t> the </a:t>
                </a:r>
                <a:r>
                  <a:rPr lang="it-IT" b="1" dirty="0" err="1"/>
                  <a:t>mean</a:t>
                </a:r>
                <a:r>
                  <a:rPr lang="it-IT" b="1" dirty="0"/>
                  <a:t> of the target </a:t>
                </a:r>
                <a:r>
                  <a:rPr lang="it-IT" b="1" dirty="0" err="1"/>
                  <a:t>values</a:t>
                </a:r>
                <a:r>
                  <a:rPr lang="it-IT" dirty="0"/>
                  <a:t> in </a:t>
                </a:r>
                <a:r>
                  <a:rPr lang="it-IT" dirty="0" err="1"/>
                  <a:t>regression</a:t>
                </a:r>
                <a:r>
                  <a:rPr lang="it-IT" dirty="0"/>
                  <a:t> tasks.</a:t>
                </a:r>
              </a:p>
              <a:p>
                <a:r>
                  <a:rPr lang="it-IT" dirty="0" err="1"/>
                  <a:t>Each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</m:oMath>
                </a14:m>
                <a:r>
                  <a:rPr lang="it-IT" dirty="0" err="1"/>
                  <a:t>is</a:t>
                </a:r>
                <a:r>
                  <a:rPr lang="it-IT" dirty="0"/>
                  <a:t> a </a:t>
                </a:r>
                <a:r>
                  <a:rPr lang="it-IT" b="1" dirty="0" err="1"/>
                  <a:t>weak</a:t>
                </a:r>
                <a:r>
                  <a:rPr lang="it-IT" b="1" dirty="0"/>
                  <a:t> </a:t>
                </a:r>
                <a:r>
                  <a:rPr lang="it-IT" b="1" dirty="0" err="1"/>
                  <a:t>learner</a:t>
                </a:r>
                <a:r>
                  <a:rPr lang="it-IT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𝛾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it-IT" dirty="0" err="1"/>
                  <a:t>represents</a:t>
                </a:r>
                <a:r>
                  <a:rPr lang="it-IT" dirty="0"/>
                  <a:t> </a:t>
                </a:r>
                <a:r>
                  <a:rPr lang="it-IT" dirty="0" err="1"/>
                  <a:t>its</a:t>
                </a:r>
                <a:r>
                  <a:rPr lang="it-IT" dirty="0"/>
                  <a:t> </a:t>
                </a:r>
                <a:r>
                  <a:rPr lang="it-IT" b="1" dirty="0"/>
                  <a:t>weight</a:t>
                </a:r>
                <a:r>
                  <a:rPr lang="it-IT" dirty="0"/>
                  <a:t> (</a:t>
                </a:r>
                <a:r>
                  <a:rPr lang="it-IT" dirty="0" err="1"/>
                  <a:t>often</a:t>
                </a:r>
                <a:r>
                  <a:rPr lang="it-IT" dirty="0"/>
                  <a:t> </a:t>
                </a:r>
                <a:r>
                  <a:rPr lang="it-IT" dirty="0" err="1"/>
                  <a:t>controlled</a:t>
                </a:r>
                <a:r>
                  <a:rPr lang="it-IT" dirty="0"/>
                  <a:t> by the </a:t>
                </a:r>
                <a:r>
                  <a:rPr lang="it-IT" i="1" dirty="0"/>
                  <a:t>learning rate</a:t>
                </a:r>
                <a:r>
                  <a:rPr lang="it-IT" dirty="0"/>
                  <a:t>).</a:t>
                </a:r>
              </a:p>
              <a:p>
                <a:r>
                  <a:rPr lang="it-IT" dirty="0"/>
                  <a:t>The </a:t>
                </a:r>
                <a:r>
                  <a:rPr lang="it-IT" dirty="0" err="1"/>
                  <a:t>process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</a:t>
                </a:r>
                <a:r>
                  <a:rPr lang="it-IT" b="1" dirty="0"/>
                  <a:t>iterative</a:t>
                </a:r>
                <a:r>
                  <a:rPr lang="it-IT" dirty="0"/>
                  <a:t>, just like </a:t>
                </a:r>
                <a:r>
                  <a:rPr lang="it-IT" dirty="0" err="1"/>
                  <a:t>AdaBoost</a:t>
                </a:r>
                <a:r>
                  <a:rPr lang="it-IT" dirty="0"/>
                  <a:t>.</a:t>
                </a:r>
                <a:br>
                  <a:rPr lang="it-IT" dirty="0"/>
                </a:br>
                <a:r>
                  <a:rPr lang="it-IT" dirty="0" err="1"/>
                  <a:t>However</a:t>
                </a:r>
                <a:r>
                  <a:rPr lang="it-IT" dirty="0"/>
                  <a:t>, in </a:t>
                </a:r>
                <a:r>
                  <a:rPr lang="it-IT" dirty="0" err="1"/>
                  <a:t>Gradient</a:t>
                </a:r>
                <a:r>
                  <a:rPr lang="it-IT" dirty="0"/>
                  <a:t> </a:t>
                </a:r>
                <a:r>
                  <a:rPr lang="it-IT" dirty="0" err="1"/>
                  <a:t>Boosting</a:t>
                </a:r>
                <a:r>
                  <a:rPr lang="it-IT" dirty="0"/>
                  <a:t>, </a:t>
                </a:r>
                <a:r>
                  <a:rPr lang="it-IT" dirty="0" err="1"/>
                  <a:t>at</a:t>
                </a:r>
                <a:r>
                  <a:rPr lang="it-IT" dirty="0"/>
                  <a:t> </a:t>
                </a:r>
                <a:r>
                  <a:rPr lang="it-IT" dirty="0" err="1"/>
                  <a:t>each</a:t>
                </a:r>
                <a:r>
                  <a:rPr lang="it-IT" dirty="0"/>
                  <a:t> </a:t>
                </a:r>
                <a:r>
                  <a:rPr lang="it-IT" dirty="0" err="1"/>
                  <a:t>iteration</a:t>
                </a:r>
                <a:r>
                  <a:rPr lang="it-IT" dirty="0"/>
                  <a:t> </a:t>
                </a:r>
                <a:r>
                  <a:rPr lang="it-IT" dirty="0" err="1"/>
                  <a:t>we</a:t>
                </a:r>
                <a:r>
                  <a:rPr lang="it-IT" dirty="0"/>
                  <a:t> </a:t>
                </a:r>
                <a:r>
                  <a:rPr lang="it-IT" dirty="0" err="1"/>
                  <a:t>train</a:t>
                </a:r>
                <a:r>
                  <a:rPr lang="it-IT" dirty="0"/>
                  <a:t> the </a:t>
                </a:r>
                <a:r>
                  <a:rPr lang="it-IT" dirty="0" err="1"/>
                  <a:t>next</a:t>
                </a:r>
                <a:r>
                  <a:rPr lang="it-IT" dirty="0"/>
                  <a:t> </a:t>
                </a:r>
                <a:r>
                  <a:rPr lang="it-IT" dirty="0" err="1"/>
                  <a:t>weak</a:t>
                </a:r>
                <a:r>
                  <a:rPr lang="it-IT" dirty="0"/>
                  <a:t> </a:t>
                </a:r>
                <a:r>
                  <a:rPr lang="it-IT" dirty="0" err="1"/>
                  <a:t>learner</a:t>
                </a:r>
                <a:r>
                  <a:rPr lang="it-IT" dirty="0"/>
                  <a:t> </a:t>
                </a:r>
                <a:r>
                  <a:rPr lang="it-IT" b="1" dirty="0"/>
                  <a:t>on the </a:t>
                </a:r>
                <a:r>
                  <a:rPr lang="it-IT" b="1" dirty="0" err="1"/>
                  <a:t>residuals</a:t>
                </a:r>
                <a:r>
                  <a:rPr lang="it-IT" b="1" dirty="0"/>
                  <a:t> of the </a:t>
                </a:r>
                <a:r>
                  <a:rPr lang="it-IT" b="1" dirty="0" err="1"/>
                  <a:t>previous</a:t>
                </a:r>
                <a:r>
                  <a:rPr lang="it-IT" b="1" dirty="0"/>
                  <a:t> model</a:t>
                </a:r>
                <a:r>
                  <a:rPr lang="it-IT" dirty="0"/>
                  <a:t>.</a:t>
                </a:r>
              </a:p>
              <a:p>
                <a:r>
                  <a:rPr lang="it-IT" dirty="0"/>
                  <a:t>The goal </a:t>
                </a:r>
                <a:r>
                  <a:rPr lang="it-IT" dirty="0" err="1"/>
                  <a:t>is</a:t>
                </a:r>
                <a:r>
                  <a:rPr lang="it-IT" dirty="0"/>
                  <a:t> to </a:t>
                </a:r>
                <a:r>
                  <a:rPr lang="it-IT" b="1" dirty="0" err="1"/>
                  <a:t>minimize</a:t>
                </a:r>
                <a:r>
                  <a:rPr lang="it-IT" b="1" dirty="0"/>
                  <a:t> a </a:t>
                </a:r>
                <a:r>
                  <a:rPr lang="it-IT" b="1" dirty="0" err="1"/>
                  <a:t>differentiable</a:t>
                </a:r>
                <a:r>
                  <a:rPr lang="it-IT" b="1" dirty="0"/>
                  <a:t> </a:t>
                </a:r>
                <a:r>
                  <a:rPr lang="it-IT" b="1" dirty="0" err="1"/>
                  <a:t>loss</a:t>
                </a:r>
                <a:r>
                  <a:rPr lang="it-IT" b="1" dirty="0"/>
                  <a:t> </a:t>
                </a:r>
                <a:r>
                  <a:rPr lang="it-IT" b="1" dirty="0" err="1"/>
                  <a:t>function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𝐿</m:t>
                    </m:r>
                  </m:oMath>
                </a14:m>
                <a:r>
                  <a:rPr lang="it-IT" dirty="0"/>
                  <a:t>—</a:t>
                </a:r>
                <a:br>
                  <a:rPr lang="it-IT" dirty="0"/>
                </a:br>
                <a:r>
                  <a:rPr lang="it-IT" dirty="0"/>
                  <a:t>for </a:t>
                </a:r>
                <a:r>
                  <a:rPr lang="it-IT" dirty="0" err="1"/>
                  <a:t>example</a:t>
                </a:r>
                <a:r>
                  <a:rPr lang="it-IT" dirty="0"/>
                  <a:t>: </a:t>
                </a:r>
                <a:r>
                  <a:rPr lang="it-IT" b="1" dirty="0"/>
                  <a:t>MSE</a:t>
                </a:r>
                <a:r>
                  <a:rPr lang="it-IT" dirty="0"/>
                  <a:t> for </a:t>
                </a:r>
                <a:r>
                  <a:rPr lang="it-IT" dirty="0" err="1"/>
                  <a:t>regression</a:t>
                </a:r>
                <a:r>
                  <a:rPr lang="it-IT" dirty="0"/>
                  <a:t> or </a:t>
                </a:r>
                <a:r>
                  <a:rPr lang="it-IT" b="1" dirty="0"/>
                  <a:t>log-</a:t>
                </a:r>
                <a:r>
                  <a:rPr lang="it-IT" b="1" dirty="0" err="1"/>
                  <a:t>loss</a:t>
                </a:r>
                <a:r>
                  <a:rPr lang="it-IT" dirty="0"/>
                  <a:t> for </a:t>
                </a:r>
                <a:r>
                  <a:rPr lang="it-IT" dirty="0" err="1"/>
                  <a:t>classification</a:t>
                </a:r>
                <a:r>
                  <a:rPr lang="it-IT" dirty="0"/>
                  <a:t>.</a:t>
                </a:r>
              </a:p>
              <a:p>
                <a:r>
                  <a:rPr lang="it-IT" dirty="0"/>
                  <a:t>The </a:t>
                </a:r>
                <a:r>
                  <a:rPr lang="it-IT" dirty="0" err="1"/>
                  <a:t>term</a:t>
                </a:r>
                <a:r>
                  <a:rPr lang="it-IT" dirty="0"/>
                  <a:t> </a:t>
                </a:r>
                <a:r>
                  <a:rPr lang="it-IT" i="1" dirty="0"/>
                  <a:t>“</a:t>
                </a:r>
                <a:r>
                  <a:rPr lang="it-IT" i="1" dirty="0" err="1"/>
                  <a:t>gradient</a:t>
                </a:r>
                <a:r>
                  <a:rPr lang="it-IT" i="1" dirty="0"/>
                  <a:t>”</a:t>
                </a:r>
                <a:r>
                  <a:rPr lang="it-IT" dirty="0"/>
                  <a:t> </a:t>
                </a:r>
                <a:r>
                  <a:rPr lang="it-IT" dirty="0" err="1"/>
                  <a:t>comes</a:t>
                </a:r>
                <a:r>
                  <a:rPr lang="it-IT" dirty="0"/>
                  <a:t> from the </a:t>
                </a:r>
                <a:r>
                  <a:rPr lang="it-IT" dirty="0" err="1"/>
                  <a:t>fact</a:t>
                </a:r>
                <a:r>
                  <a:rPr lang="it-IT" dirty="0"/>
                  <a:t> </a:t>
                </a:r>
                <a:r>
                  <a:rPr lang="it-IT" dirty="0" err="1"/>
                  <a:t>that</a:t>
                </a:r>
                <a:r>
                  <a:rPr lang="it-IT" dirty="0"/>
                  <a:t> </a:t>
                </a:r>
                <a:r>
                  <a:rPr lang="it-IT" dirty="0" err="1"/>
                  <a:t>these</a:t>
                </a:r>
                <a:r>
                  <a:rPr lang="it-IT" dirty="0"/>
                  <a:t> </a:t>
                </a:r>
                <a:r>
                  <a:rPr lang="it-IT" dirty="0" err="1"/>
                  <a:t>residuals</a:t>
                </a:r>
                <a:r>
                  <a:rPr lang="it-IT" dirty="0"/>
                  <a:t> (or </a:t>
                </a:r>
                <a:r>
                  <a:rPr lang="it-IT" b="1" dirty="0"/>
                  <a:t>pseudo-</a:t>
                </a:r>
                <a:r>
                  <a:rPr lang="it-IT" b="1" dirty="0" err="1"/>
                  <a:t>residuals</a:t>
                </a:r>
                <a:r>
                  <a:rPr lang="it-IT" dirty="0"/>
                  <a:t>) </a:t>
                </a:r>
                <a:r>
                  <a:rPr lang="it-IT" dirty="0" err="1"/>
                  <a:t>represent</a:t>
                </a:r>
                <a:r>
                  <a:rPr lang="it-IT" dirty="0"/>
                  <a:t> the </a:t>
                </a:r>
                <a:r>
                  <a:rPr lang="it-IT" b="1" dirty="0"/>
                  <a:t>negative </a:t>
                </a:r>
                <a:r>
                  <a:rPr lang="it-IT" b="1" dirty="0" err="1"/>
                  <a:t>gradient</a:t>
                </a:r>
                <a:r>
                  <a:rPr lang="it-IT" b="1" dirty="0"/>
                  <a:t> of the </a:t>
                </a:r>
                <a:r>
                  <a:rPr lang="it-IT" b="1" dirty="0" err="1"/>
                  <a:t>loss</a:t>
                </a:r>
                <a:r>
                  <a:rPr lang="it-IT" b="1" dirty="0"/>
                  <a:t> </a:t>
                </a:r>
                <a:r>
                  <a:rPr lang="it-IT" b="1" dirty="0" err="1"/>
                  <a:t>function</a:t>
                </a:r>
                <a:r>
                  <a:rPr lang="it-IT" dirty="0"/>
                  <a:t> with </a:t>
                </a:r>
                <a:r>
                  <a:rPr lang="it-IT" dirty="0" err="1"/>
                  <a:t>respect</a:t>
                </a:r>
                <a:r>
                  <a:rPr lang="it-IT" dirty="0"/>
                  <a:t> to the </a:t>
                </a:r>
                <a:r>
                  <a:rPr lang="it-IT" dirty="0" err="1"/>
                  <a:t>model’s</a:t>
                </a:r>
                <a:r>
                  <a:rPr lang="it-IT" dirty="0"/>
                  <a:t> </a:t>
                </a:r>
                <a:r>
                  <a:rPr lang="it-IT" dirty="0" err="1"/>
                  <a:t>predictions</a:t>
                </a:r>
                <a:r>
                  <a:rPr lang="it-IT" dirty="0"/>
                  <a:t>.</a:t>
                </a:r>
                <a:br>
                  <a:rPr lang="it-IT" dirty="0"/>
                </a:br>
                <a:r>
                  <a:rPr lang="it-IT" dirty="0"/>
                  <a:t>In </a:t>
                </a:r>
                <a:r>
                  <a:rPr lang="it-IT" dirty="0" err="1"/>
                  <a:t>other</a:t>
                </a:r>
                <a:r>
                  <a:rPr lang="it-IT" dirty="0"/>
                  <a:t> words, </a:t>
                </a:r>
                <a:r>
                  <a:rPr lang="it-IT" dirty="0" err="1"/>
                  <a:t>each</a:t>
                </a:r>
                <a:r>
                  <a:rPr lang="it-IT" dirty="0"/>
                  <a:t> new </a:t>
                </a:r>
                <a:r>
                  <a:rPr lang="it-IT" dirty="0" err="1"/>
                  <a:t>tree</a:t>
                </a:r>
                <a:r>
                  <a:rPr lang="it-IT" dirty="0"/>
                  <a:t> </a:t>
                </a:r>
                <a:r>
                  <a:rPr lang="it-IT" dirty="0" err="1"/>
                  <a:t>moves</a:t>
                </a:r>
                <a:r>
                  <a:rPr lang="it-IT" dirty="0"/>
                  <a:t> </a:t>
                </a:r>
                <a:r>
                  <a:rPr lang="it-IT" b="1" dirty="0"/>
                  <a:t>in the </a:t>
                </a:r>
                <a:r>
                  <a:rPr lang="it-IT" b="1" dirty="0" err="1"/>
                  <a:t>direction</a:t>
                </a:r>
                <a:r>
                  <a:rPr lang="it-IT" b="1" dirty="0"/>
                  <a:t> </a:t>
                </a:r>
                <a:r>
                  <a:rPr lang="it-IT" b="1" dirty="0" err="1"/>
                  <a:t>that</a:t>
                </a:r>
                <a:r>
                  <a:rPr lang="it-IT" b="1" dirty="0"/>
                  <a:t> </a:t>
                </a:r>
                <a:r>
                  <a:rPr lang="it-IT" b="1" dirty="0" err="1"/>
                  <a:t>most</a:t>
                </a:r>
                <a:r>
                  <a:rPr lang="it-IT" b="1" dirty="0"/>
                  <a:t> </a:t>
                </a:r>
                <a:r>
                  <a:rPr lang="it-IT" b="1" dirty="0" err="1"/>
                  <a:t>reduces</a:t>
                </a:r>
                <a:r>
                  <a:rPr lang="it-IT" b="1" dirty="0"/>
                  <a:t> the </a:t>
                </a:r>
                <a:r>
                  <a:rPr lang="it-IT" b="1" dirty="0" err="1"/>
                  <a:t>loss</a:t>
                </a:r>
                <a:r>
                  <a:rPr lang="it-IT" dirty="0"/>
                  <a:t>, following the </a:t>
                </a:r>
                <a:r>
                  <a:rPr lang="it-IT" dirty="0" err="1"/>
                  <a:t>gradient</a:t>
                </a:r>
                <a:r>
                  <a:rPr lang="it-IT" dirty="0"/>
                  <a:t> </a:t>
                </a:r>
                <a:r>
                  <a:rPr lang="it-IT" dirty="0" err="1"/>
                  <a:t>descent</a:t>
                </a:r>
                <a:r>
                  <a:rPr lang="it-IT" dirty="0"/>
                  <a:t> </a:t>
                </a:r>
                <a:r>
                  <a:rPr lang="it-IT" dirty="0" err="1"/>
                  <a:t>principle</a:t>
                </a:r>
                <a:r>
                  <a:rPr lang="it-IT" dirty="0"/>
                  <a:t>.</a:t>
                </a:r>
              </a:p>
              <a:p>
                <a:br>
                  <a:rPr lang="it-IT" dirty="0"/>
                </a:br>
                <a:br>
                  <a:rPr lang="it-IT" dirty="0"/>
                </a:br>
                <a:r>
                  <a:rPr lang="it-IT" dirty="0"/>
                  <a:t>Il </a:t>
                </a:r>
                <a:r>
                  <a:rPr lang="it-IT" dirty="0" err="1"/>
                  <a:t>Gradient</a:t>
                </a:r>
                <a:r>
                  <a:rPr lang="it-IT" dirty="0"/>
                  <a:t> </a:t>
                </a:r>
                <a:r>
                  <a:rPr lang="it-IT" dirty="0" err="1"/>
                  <a:t>Boosting</a:t>
                </a:r>
                <a:r>
                  <a:rPr lang="it-IT" dirty="0"/>
                  <a:t>, come </a:t>
                </a:r>
                <a:r>
                  <a:rPr lang="it-IT" dirty="0" err="1"/>
                  <a:t>Adaboost</a:t>
                </a:r>
                <a:r>
                  <a:rPr lang="it-IT" dirty="0"/>
                  <a:t>, costruisce un modello come somma di </a:t>
                </a:r>
                <a:r>
                  <a:rPr lang="it-IT" dirty="0" err="1"/>
                  <a:t>weak</a:t>
                </a:r>
                <a:r>
                  <a:rPr lang="it-IT" dirty="0"/>
                  <a:t> </a:t>
                </a:r>
                <a:r>
                  <a:rPr lang="it-IT" dirty="0" err="1"/>
                  <a:t>learners</a:t>
                </a:r>
                <a:r>
                  <a:rPr lang="it-IT" dirty="0"/>
                  <a:t>.</a:t>
                </a:r>
              </a:p>
              <a:p>
                <a:r>
                  <a:rPr lang="it-IT" dirty="0"/>
                  <a:t>(formula)</a:t>
                </a:r>
              </a:p>
              <a:p>
                <a:pPr marL="171450" indent="-171450">
                  <a:buFontTx/>
                  <a:buChar char="-"/>
                </a:pPr>
                <a:r>
                  <a:rPr lang="it-IT" dirty="0" err="1"/>
                  <a:t>Final</a:t>
                </a:r>
                <a:r>
                  <a:rPr lang="it-IT" dirty="0"/>
                  <a:t> model = sum of the </a:t>
                </a:r>
                <a:r>
                  <a:rPr lang="it-IT" dirty="0" err="1"/>
                  <a:t>initial</a:t>
                </a:r>
                <a:r>
                  <a:rPr lang="it-IT" dirty="0"/>
                  <a:t> </a:t>
                </a:r>
                <a:r>
                  <a:rPr lang="it-IT" dirty="0" err="1"/>
                  <a:t>prediction</a:t>
                </a:r>
                <a:r>
                  <a:rPr lang="it-IT" dirty="0"/>
                  <a:t> (</a:t>
                </a:r>
                <a:r>
                  <a:rPr lang="it-IT" dirty="0" err="1"/>
                  <a:t>usaually</a:t>
                </a:r>
                <a:r>
                  <a:rPr lang="it-IT" dirty="0"/>
                  <a:t> the target </a:t>
                </a:r>
                <a:r>
                  <a:rPr lang="it-IT" dirty="0" err="1"/>
                  <a:t>mean</a:t>
                </a:r>
                <a:r>
                  <a:rPr lang="it-IT" dirty="0"/>
                  <a:t> in a </a:t>
                </a:r>
                <a:r>
                  <a:rPr lang="it-IT" dirty="0" err="1"/>
                  <a:t>regression</a:t>
                </a:r>
                <a:r>
                  <a:rPr lang="it-IT" dirty="0"/>
                  <a:t> task)</a:t>
                </a:r>
              </a:p>
              <a:p>
                <a:pPr marL="171450" indent="-171450">
                  <a:buFontTx/>
                  <a:buChar char="-"/>
                </a:pPr>
                <a:r>
                  <a:rPr lang="it-IT" dirty="0" err="1"/>
                  <a:t>Summation</a:t>
                </a:r>
                <a:r>
                  <a:rPr lang="it-IT" dirty="0"/>
                  <a:t> of the </a:t>
                </a:r>
                <a:r>
                  <a:rPr lang="it-IT" dirty="0" err="1"/>
                  <a:t>weigheted</a:t>
                </a:r>
                <a:r>
                  <a:rPr lang="it-IT" dirty="0"/>
                  <a:t> </a:t>
                </a:r>
                <a:r>
                  <a:rPr lang="it-IT" dirty="0" err="1"/>
                  <a:t>weak</a:t>
                </a:r>
                <a:r>
                  <a:rPr lang="it-IT" dirty="0"/>
                  <a:t> </a:t>
                </a:r>
                <a:r>
                  <a:rPr lang="it-IT" dirty="0" err="1"/>
                  <a:t>learners</a:t>
                </a:r>
                <a:r>
                  <a:rPr lang="it-IT" dirty="0"/>
                  <a:t> (weight </a:t>
                </a:r>
                <a:r>
                  <a:rPr lang="it-IT" dirty="0" err="1"/>
                  <a:t>is</a:t>
                </a:r>
                <a:r>
                  <a:rPr lang="it-IT" dirty="0"/>
                  <a:t> </a:t>
                </a:r>
                <a:r>
                  <a:rPr lang="it-IT" dirty="0" err="1"/>
                  <a:t>p_m</a:t>
                </a:r>
                <a:r>
                  <a:rPr lang="it-IT" dirty="0"/>
                  <a:t> </a:t>
                </a:r>
                <a:r>
                  <a:rPr lang="it-IT" dirty="0">
                    <a:sym typeface="Wingdings" panose="05000000000000000000" pitchFamily="2" charset="2"/>
                  </a:rPr>
                  <a:t>learning rate or weight</a:t>
                </a:r>
                <a:r>
                  <a:rPr lang="it-IT" dirty="0"/>
                  <a:t>)</a:t>
                </a:r>
              </a:p>
              <a:p>
                <a:r>
                  <a:rPr lang="it-IT" dirty="0"/>
                  <a:t>Il processo è iterativo come per </a:t>
                </a:r>
                <a:r>
                  <a:rPr lang="it-IT" dirty="0" err="1"/>
                  <a:t>adaboost</a:t>
                </a:r>
                <a:r>
                  <a:rPr lang="it-IT" dirty="0"/>
                  <a:t>, ma ad ogni iterazione addestriamo il modello successivo considerando i residui del precedente.</a:t>
                </a:r>
              </a:p>
              <a:p>
                <a:r>
                  <a:rPr lang="it-IT" dirty="0"/>
                  <a:t>L’obbiettivo è dunque minimizzare una funzione di costo L (differenziabile), (MSE: </a:t>
                </a:r>
                <a:r>
                  <a:rPr lang="it-IT" dirty="0" err="1"/>
                  <a:t>regression</a:t>
                </a:r>
                <a:r>
                  <a:rPr lang="it-IT" dirty="0"/>
                  <a:t>, log-</a:t>
                </a:r>
                <a:r>
                  <a:rPr lang="it-IT" dirty="0" err="1"/>
                  <a:t>loss</a:t>
                </a:r>
                <a:r>
                  <a:rPr lang="it-IT" dirty="0"/>
                  <a:t> </a:t>
                </a:r>
                <a:r>
                  <a:rPr lang="it-IT" dirty="0" err="1"/>
                  <a:t>classiifcation</a:t>
                </a:r>
                <a:r>
                  <a:rPr lang="it-IT" dirty="0"/>
                  <a:t>) </a:t>
                </a:r>
                <a:r>
                  <a:rPr lang="it-IT" dirty="0">
                    <a:sym typeface="Wingdings" panose="05000000000000000000" pitchFamily="2" charset="2"/>
                  </a:rPr>
                  <a:t> il termine gradiente deriva dal fatto che </a:t>
                </a:r>
                <a:r>
                  <a:rPr lang="it-IT" dirty="0"/>
                  <a:t>i residui (pseudo-residui) sono il </a:t>
                </a:r>
                <a:r>
                  <a:rPr lang="it-IT" b="1" dirty="0"/>
                  <a:t>negativo del gradiente</a:t>
                </a:r>
                <a:r>
                  <a:rPr lang="it-IT" dirty="0"/>
                  <a:t> della </a:t>
                </a:r>
                <a:r>
                  <a:rPr lang="it-IT" dirty="0" err="1"/>
                  <a:t>loss</a:t>
                </a:r>
                <a:r>
                  <a:rPr lang="it-IT" dirty="0"/>
                  <a:t> </a:t>
                </a:r>
                <a:r>
                  <a:rPr lang="it-IT" dirty="0" err="1"/>
                  <a:t>function</a:t>
                </a:r>
                <a:r>
                  <a:rPr lang="it-IT" dirty="0"/>
                  <a:t> rispetto alle predizioni. Ogni albero "scende" lungo il gradiente della </a:t>
                </a:r>
                <a:r>
                  <a:rPr lang="it-IT" dirty="0" err="1"/>
                  <a:t>loss</a:t>
                </a:r>
                <a:r>
                  <a:rPr lang="it-IT" dirty="0"/>
                  <a:t>, ovvero nella direzione che minimizza L.</a:t>
                </a:r>
              </a:p>
              <a:p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  <a:p>
                <a:r>
                  <a:rPr lang="it-IT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Discesa del gradiente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L'algoritmo segue la direzione di massima discesa del gradiente per minimizzare la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loss</a:t>
                </a:r>
                <a:endParaRPr lang="it-IT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it-IT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Approssimazione del gradiente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Ogni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weak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learner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approssima l'opposto del gradiente</a:t>
                </a:r>
              </a:p>
              <a:p>
                <a:r>
                  <a:rPr lang="it-IT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Aggiornamento iterativo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Come nella discesa del gradiente, ma nello spazio delle funzioni invece che dei parametri</a:t>
                </a:r>
              </a:p>
              <a:p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  <a:p>
                <a:r>
                  <a:rPr lang="it-IT" dirty="0"/>
                  <a:t>Il </a:t>
                </a:r>
                <a:r>
                  <a:rPr lang="it-IT" dirty="0" err="1"/>
                  <a:t>boosting</a:t>
                </a:r>
                <a:r>
                  <a:rPr lang="it-IT" dirty="0"/>
                  <a:t> costruisce un modello come </a:t>
                </a:r>
                <a:r>
                  <a:rPr lang="it-IT" b="1" dirty="0"/>
                  <a:t>somma di </a:t>
                </a:r>
                <a:r>
                  <a:rPr lang="it-IT" b="1" dirty="0" err="1"/>
                  <a:t>weak</a:t>
                </a:r>
                <a:r>
                  <a:rPr lang="it-IT" b="1" dirty="0"/>
                  <a:t> </a:t>
                </a:r>
                <a:r>
                  <a:rPr lang="it-IT" b="1" dirty="0" err="1"/>
                  <a:t>learners</a:t>
                </a:r>
                <a:r>
                  <a:rPr lang="it-IT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  <m:sup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𝑚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it-IT" dirty="0"/>
                  <a:t>F0​ è una costante iniziale (es. la media dei target),</a:t>
                </a:r>
              </a:p>
              <a:p>
                <a:r>
                  <a:rPr lang="it-IT" dirty="0"/>
                  <a:t>ogni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</m:oMath>
                </a14:m>
                <a:r>
                  <a:rPr lang="it-IT" dirty="0"/>
                  <a:t>è un debole predittore (es. un piccolo albero),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𝜌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it-IT" dirty="0"/>
                  <a:t>è un peso di aggiornamento.</a:t>
                </a:r>
              </a:p>
              <a:p>
                <a:r>
                  <a:rPr lang="it-IT" dirty="0"/>
                  <a:t>L’obiettivo è trovare 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it-IT" dirty="0"/>
                  <a:t>e 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𝜌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it-IT" dirty="0"/>
                  <a:t>tali da </a:t>
                </a:r>
                <a:r>
                  <a:rPr lang="it-IT" b="1" dirty="0"/>
                  <a:t>minimizzare una funzione di costo (</a:t>
                </a:r>
                <a:r>
                  <a:rPr lang="it-IT" b="1" dirty="0" err="1"/>
                  <a:t>loss</a:t>
                </a:r>
                <a:r>
                  <a:rPr lang="it-IT" b="1" dirty="0"/>
                  <a:t>)</a:t>
                </a:r>
                <a:r>
                  <a:rPr lang="it-IT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𝐿</m:t>
                      </m:r>
                      <m:r>
                        <a:rPr lang="it-IT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  <m:sup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</m:sup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e>
                      </m:nary>
                      <m:d>
                        <m:dPr>
                          <m:sepChr m:val=",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𝑀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it-IT" dirty="0"/>
                  <a:t>L’idea:</a:t>
                </a:r>
                <a:br>
                  <a:rPr lang="it-IT" dirty="0"/>
                </a:br>
                <a:r>
                  <a:rPr lang="it-IT" dirty="0"/>
                  <a:t>Ad ogni passo, vogliamo spostarci nella direzione che </a:t>
                </a:r>
                <a:r>
                  <a:rPr lang="it-IT" b="1" dirty="0"/>
                  <a:t>riduce di più la </a:t>
                </a:r>
                <a:r>
                  <a:rPr lang="it-IT" b="1" dirty="0" err="1"/>
                  <a:t>loss</a:t>
                </a:r>
                <a:r>
                  <a:rPr lang="it-IT" dirty="0"/>
                  <a:t>.</a:t>
                </a:r>
                <a:br>
                  <a:rPr lang="it-IT" dirty="0"/>
                </a:br>
                <a:r>
                  <a:rPr lang="it-IT" dirty="0"/>
                  <a:t>In un problema di ottimizzazione classico, faremmo: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𝜂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∇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sub>
                      </m:sSub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it-IT" dirty="0"/>
                  <a:t>Nel </a:t>
                </a:r>
                <a:r>
                  <a:rPr lang="it-IT" i="1" dirty="0" err="1"/>
                  <a:t>gradient</a:t>
                </a:r>
                <a:r>
                  <a:rPr lang="it-IT" i="1" dirty="0"/>
                  <a:t> </a:t>
                </a:r>
                <a:r>
                  <a:rPr lang="it-IT" i="1" dirty="0" err="1"/>
                  <a:t>boosting</a:t>
                </a:r>
                <a:r>
                  <a:rPr lang="it-IT" dirty="0"/>
                  <a:t>, facciamo lo stesso ma per funzioni: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∇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sub>
                      </m:sSub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𝐿</m:t>
                      </m:r>
                      <m:d>
                        <m:dPr>
                          <m:sepChr m:val=",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𝑚</m:t>
                              </m:r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Generalizes AdaBoost by minimizing any differentiable loss via gradient descent.</a:t>
                </a:r>
              </a:p>
              <a:p>
                <a:r>
                  <a:rPr lang="it-IT" dirty="0"/>
                  <a:t>Bullet:</a:t>
                </a:r>
              </a:p>
              <a:p>
                <a:pPr lvl="1"/>
                <a:r>
                  <a:rPr lang="it-IT" dirty="0" err="1"/>
                  <a:t>Uses</a:t>
                </a:r>
                <a:r>
                  <a:rPr lang="it-IT" dirty="0"/>
                  <a:t> </a:t>
                </a:r>
                <a:r>
                  <a:rPr lang="it-IT" dirty="0" err="1"/>
                  <a:t>residuals</a:t>
                </a:r>
                <a:r>
                  <a:rPr lang="it-IT" dirty="0"/>
                  <a:t> (pseudo-</a:t>
                </a:r>
                <a:r>
                  <a:rPr lang="it-IT" dirty="0" err="1"/>
                  <a:t>errors</a:t>
                </a:r>
                <a:r>
                  <a:rPr lang="it-IT" dirty="0"/>
                  <a:t>) to </a:t>
                </a:r>
                <a:r>
                  <a:rPr lang="it-IT" dirty="0" err="1"/>
                  <a:t>fit</a:t>
                </a:r>
                <a:r>
                  <a:rPr lang="it-IT" dirty="0"/>
                  <a:t> </a:t>
                </a:r>
                <a:r>
                  <a:rPr lang="it-IT" dirty="0" err="1"/>
                  <a:t>next</a:t>
                </a:r>
                <a:r>
                  <a:rPr lang="it-IT" dirty="0"/>
                  <a:t> model</a:t>
                </a:r>
              </a:p>
              <a:p>
                <a:pPr lvl="1"/>
                <a:r>
                  <a:rPr lang="it-IT" dirty="0" err="1"/>
                  <a:t>Flexible</a:t>
                </a:r>
                <a:r>
                  <a:rPr lang="it-IT" dirty="0"/>
                  <a:t> (works for </a:t>
                </a:r>
                <a:r>
                  <a:rPr lang="it-IT" dirty="0" err="1"/>
                  <a:t>regression</a:t>
                </a:r>
                <a:r>
                  <a:rPr lang="it-IT" dirty="0"/>
                  <a:t>, </a:t>
                </a:r>
                <a:r>
                  <a:rPr lang="it-IT" dirty="0" err="1"/>
                  <a:t>classification</a:t>
                </a:r>
                <a:r>
                  <a:rPr lang="it-IT" dirty="0"/>
                  <a:t>)</a:t>
                </a:r>
              </a:p>
              <a:p>
                <a:pPr lvl="1"/>
                <a:r>
                  <a:rPr lang="it-IT" dirty="0"/>
                  <a:t>Foundation for </a:t>
                </a:r>
                <a:r>
                  <a:rPr lang="it-IT" dirty="0" err="1"/>
                  <a:t>XGBoost</a:t>
                </a:r>
                <a:r>
                  <a:rPr lang="it-IT" dirty="0"/>
                  <a:t>, </a:t>
                </a:r>
                <a:r>
                  <a:rPr lang="it-IT" dirty="0" err="1"/>
                  <a:t>LightGBM</a:t>
                </a:r>
                <a:r>
                  <a:rPr lang="it-IT" dirty="0"/>
                  <a:t>, </a:t>
                </a:r>
                <a:r>
                  <a:rPr lang="it-IT" dirty="0" err="1"/>
                  <a:t>CatBoost</a:t>
                </a:r>
                <a:endParaRPr lang="it-IT" dirty="0"/>
              </a:p>
              <a:p>
                <a:r>
                  <a:rPr lang="it-IT" i="1" dirty="0"/>
                  <a:t>Niente formule lunghe</a:t>
                </a:r>
                <a:r>
                  <a:rPr lang="it-IT" dirty="0"/>
                  <a:t>, ma puoi mostrare: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it-IT" dirty="0"/>
                  <a:t>🎨 </a:t>
                </a:r>
                <a:r>
                  <a:rPr lang="it-IT" i="1" dirty="0"/>
                  <a:t>Visual</a:t>
                </a:r>
                <a:r>
                  <a:rPr lang="it-IT" dirty="0"/>
                  <a:t>: “iterative </a:t>
                </a:r>
                <a:r>
                  <a:rPr lang="it-IT" dirty="0" err="1"/>
                  <a:t>correction</a:t>
                </a:r>
                <a:r>
                  <a:rPr lang="it-IT" dirty="0"/>
                  <a:t>” → ogni modello corregge il precedente.</a:t>
                </a: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INSERIRE PARTE CHAT GPT RIASSUNTA.</a:t>
                </a:r>
              </a:p>
              <a:p>
                <a:r>
                  <a:rPr lang="it-IT" dirty="0"/>
                  <a:t>Il </a:t>
                </a:r>
                <a:r>
                  <a:rPr lang="it-IT" dirty="0" err="1"/>
                  <a:t>boosting</a:t>
                </a:r>
                <a:r>
                  <a:rPr lang="it-IT" dirty="0"/>
                  <a:t> costruisce un modello come </a:t>
                </a:r>
                <a:r>
                  <a:rPr lang="it-IT" b="1" dirty="0"/>
                  <a:t>somma di </a:t>
                </a:r>
                <a:r>
                  <a:rPr lang="it-IT" b="1" dirty="0" err="1"/>
                  <a:t>weak</a:t>
                </a:r>
                <a:r>
                  <a:rPr lang="it-IT" b="1" dirty="0"/>
                  <a:t> </a:t>
                </a:r>
                <a:r>
                  <a:rPr lang="it-IT" b="1" dirty="0" err="1"/>
                  <a:t>learners</a:t>
                </a:r>
                <a:r>
                  <a:rPr lang="it-IT" dirty="0"/>
                  <a:t>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𝐹_𝑀 (𝑥)=𝐹_0 (𝑥)+∑128_(𝑚=1)^𝑀▒𝜌_𝑚  ℎ_𝑚 (𝑥)</a:t>
                </a:r>
                <a:endParaRPr lang="ar-AE" dirty="0"/>
              </a:p>
              <a:p>
                <a:r>
                  <a:rPr lang="it-IT" dirty="0"/>
                  <a:t>F0​ è una costante iniziale (es. la media dei target),</a:t>
                </a:r>
              </a:p>
              <a:p>
                <a:r>
                  <a:rPr lang="it-IT" dirty="0"/>
                  <a:t>ogni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ℎ_𝑚 (𝑥)</a:t>
                </a:r>
                <a:r>
                  <a:rPr lang="it-IT" dirty="0"/>
                  <a:t>è un debole predittore (es. un piccolo albero),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𝜌_𝑚</a:t>
                </a:r>
                <a:r>
                  <a:rPr lang="it-IT" dirty="0"/>
                  <a:t>è un peso di aggiornamento.</a:t>
                </a:r>
              </a:p>
              <a:p>
                <a:r>
                  <a:rPr lang="it-IT" dirty="0"/>
                  <a:t>L’obiettivo è trovare i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ℎ_𝑚</a:t>
                </a:r>
                <a:r>
                  <a:rPr lang="it-IT" dirty="0"/>
                  <a:t>e i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𝜌_𝑚</a:t>
                </a:r>
                <a:r>
                  <a:rPr lang="it-IT" dirty="0"/>
                  <a:t>tali da </a:t>
                </a:r>
                <a:r>
                  <a:rPr lang="it-IT" b="1" dirty="0"/>
                  <a:t>minimizzare una funzione di costo (</a:t>
                </a:r>
                <a:r>
                  <a:rPr lang="it-IT" b="1" dirty="0" err="1"/>
                  <a:t>loss</a:t>
                </a:r>
                <a:r>
                  <a:rPr lang="it-IT" b="1" dirty="0"/>
                  <a:t>)</a:t>
                </a:r>
                <a:r>
                  <a:rPr lang="it-IT" dirty="0"/>
                  <a:t>:</a:t>
                </a:r>
              </a:p>
              <a:p>
                <a:r>
                  <a:rPr lang="it-IT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∑128_(𝑖=1)^𝑁▒𝐿 (𝑦_𝑖ⓜ,𝐹_𝑀 (𝑥_𝑖 ) )</a:t>
                </a:r>
                <a:endParaRPr lang="ar-AE" dirty="0"/>
              </a:p>
              <a:p>
                <a:r>
                  <a:rPr lang="it-IT" dirty="0"/>
                  <a:t>L’idea:</a:t>
                </a:r>
                <a:br>
                  <a:rPr lang="it-IT" dirty="0"/>
                </a:br>
                <a:r>
                  <a:rPr lang="it-IT" dirty="0"/>
                  <a:t>Ad ogni passo, vogliamo spostarci nella direzione che </a:t>
                </a:r>
                <a:r>
                  <a:rPr lang="it-IT" b="1" dirty="0"/>
                  <a:t>riduce di più la </a:t>
                </a:r>
                <a:r>
                  <a:rPr lang="it-IT" b="1" dirty="0" err="1"/>
                  <a:t>loss</a:t>
                </a:r>
                <a:r>
                  <a:rPr lang="it-IT" dirty="0"/>
                  <a:t>.</a:t>
                </a:r>
                <a:br>
                  <a:rPr lang="it-IT" dirty="0"/>
                </a:br>
                <a:r>
                  <a:rPr lang="it-IT" dirty="0"/>
                  <a:t>In un problema di ottimizzazione classico, faremmo: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𝜃_(𝑡+1)=𝜃_𝑡−𝜂∇_𝜃 𝐿(𝜃_𝑡 )</a:t>
                </a:r>
                <a:endParaRPr lang="ar-AE" dirty="0"/>
              </a:p>
              <a:p>
                <a:r>
                  <a:rPr lang="it-IT" dirty="0"/>
                  <a:t>Nel </a:t>
                </a:r>
                <a:r>
                  <a:rPr lang="it-IT" i="1" dirty="0" err="1"/>
                  <a:t>gradient</a:t>
                </a:r>
                <a:r>
                  <a:rPr lang="it-IT" i="1" dirty="0"/>
                  <a:t> </a:t>
                </a:r>
                <a:r>
                  <a:rPr lang="it-IT" i="1" dirty="0" err="1"/>
                  <a:t>boosting</a:t>
                </a:r>
                <a:r>
                  <a:rPr lang="it-IT" dirty="0"/>
                  <a:t>, facciamo lo stesso ma per funzioni: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𝐹_𝑚 (𝑥)=𝐹_(𝑚−1) (𝑥)−𝜌_𝑚 ∇_𝐹 𝐿(𝑦ⓜ,𝐹_(𝑚−1) (𝑥) )</a:t>
                </a:r>
                <a:endParaRPr lang="ar-AE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Generalizes AdaBoost by minimizing any differentiable loss via gradient descent.</a:t>
                </a:r>
              </a:p>
              <a:p>
                <a:r>
                  <a:rPr lang="it-IT" dirty="0"/>
                  <a:t>Bullet:</a:t>
                </a:r>
              </a:p>
              <a:p>
                <a:pPr lvl="1"/>
                <a:r>
                  <a:rPr lang="it-IT" dirty="0" err="1"/>
                  <a:t>Uses</a:t>
                </a:r>
                <a:r>
                  <a:rPr lang="it-IT" dirty="0"/>
                  <a:t> </a:t>
                </a:r>
                <a:r>
                  <a:rPr lang="it-IT" dirty="0" err="1"/>
                  <a:t>residuals</a:t>
                </a:r>
                <a:r>
                  <a:rPr lang="it-IT" dirty="0"/>
                  <a:t> (pseudo-</a:t>
                </a:r>
                <a:r>
                  <a:rPr lang="it-IT" dirty="0" err="1"/>
                  <a:t>errors</a:t>
                </a:r>
                <a:r>
                  <a:rPr lang="it-IT" dirty="0"/>
                  <a:t>) to </a:t>
                </a:r>
                <a:r>
                  <a:rPr lang="it-IT" dirty="0" err="1"/>
                  <a:t>fit</a:t>
                </a:r>
                <a:r>
                  <a:rPr lang="it-IT" dirty="0"/>
                  <a:t> </a:t>
                </a:r>
                <a:r>
                  <a:rPr lang="it-IT" dirty="0" err="1"/>
                  <a:t>next</a:t>
                </a:r>
                <a:r>
                  <a:rPr lang="it-IT" dirty="0"/>
                  <a:t> model</a:t>
                </a:r>
              </a:p>
              <a:p>
                <a:pPr lvl="1"/>
                <a:r>
                  <a:rPr lang="it-IT" dirty="0" err="1"/>
                  <a:t>Flexible</a:t>
                </a:r>
                <a:r>
                  <a:rPr lang="it-IT" dirty="0"/>
                  <a:t> (works for </a:t>
                </a:r>
                <a:r>
                  <a:rPr lang="it-IT" dirty="0" err="1"/>
                  <a:t>regression</a:t>
                </a:r>
                <a:r>
                  <a:rPr lang="it-IT" dirty="0"/>
                  <a:t>, </a:t>
                </a:r>
                <a:r>
                  <a:rPr lang="it-IT" dirty="0" err="1"/>
                  <a:t>classification</a:t>
                </a:r>
                <a:r>
                  <a:rPr lang="it-IT" dirty="0"/>
                  <a:t>)</a:t>
                </a:r>
              </a:p>
              <a:p>
                <a:pPr lvl="1"/>
                <a:r>
                  <a:rPr lang="it-IT" dirty="0"/>
                  <a:t>Foundation for </a:t>
                </a:r>
                <a:r>
                  <a:rPr lang="it-IT" dirty="0" err="1"/>
                  <a:t>XGBoost</a:t>
                </a:r>
                <a:r>
                  <a:rPr lang="it-IT" dirty="0"/>
                  <a:t>, </a:t>
                </a:r>
                <a:r>
                  <a:rPr lang="it-IT" dirty="0" err="1"/>
                  <a:t>LightGBM</a:t>
                </a:r>
                <a:r>
                  <a:rPr lang="it-IT" dirty="0"/>
                  <a:t>, </a:t>
                </a:r>
                <a:r>
                  <a:rPr lang="it-IT" dirty="0" err="1"/>
                  <a:t>CatBoost</a:t>
                </a:r>
                <a:endParaRPr lang="it-IT" dirty="0"/>
              </a:p>
              <a:p>
                <a:r>
                  <a:rPr lang="it-IT" i="1" dirty="0"/>
                  <a:t>Niente formule lunghe</a:t>
                </a:r>
                <a:r>
                  <a:rPr lang="it-IT" dirty="0"/>
                  <a:t>, ma puoi mostrare: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𝐹_𝑚 (𝑥)=𝐹_(𝑚−1) (𝑥)+𝜌_𝑚 ℎ_𝑚 (𝑥)</a:t>
                </a:r>
                <a:endParaRPr lang="ar-AE" dirty="0"/>
              </a:p>
              <a:p>
                <a:r>
                  <a:rPr lang="it-IT" dirty="0"/>
                  <a:t>🎨 </a:t>
                </a:r>
                <a:r>
                  <a:rPr lang="it-IT" i="1" dirty="0"/>
                  <a:t>Visual</a:t>
                </a:r>
                <a:r>
                  <a:rPr lang="it-IT" dirty="0"/>
                  <a:t>: “iterative </a:t>
                </a:r>
                <a:r>
                  <a:rPr lang="it-IT" dirty="0" err="1"/>
                  <a:t>correction</a:t>
                </a:r>
                <a:r>
                  <a:rPr lang="it-IT" dirty="0"/>
                  <a:t>” → ogni modello corregge il precedente.</a:t>
                </a:r>
              </a:p>
              <a:p>
                <a:endParaRPr lang="it-IT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16826-2BAC-4F49-B52C-E9DC03126A25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5915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EBFF5-847F-A16E-12CA-807DA8F78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F8207-A949-CB13-1AD4-03513570B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92A5A-F90B-ED8F-55BC-80829BDD4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Finally, I included a table summarizing the main algorithms and their key characteristics.</a:t>
            </a:r>
          </a:p>
          <a:p>
            <a:endParaRPr lang="it-IT" b="1" dirty="0"/>
          </a:p>
          <a:p>
            <a:r>
              <a:rPr lang="it-IT" b="1" dirty="0"/>
              <a:t>Contenuti (brevissimi):</a:t>
            </a:r>
            <a:endParaRPr lang="it-IT" dirty="0"/>
          </a:p>
          <a:p>
            <a:r>
              <a:rPr lang="it-IT" b="1" dirty="0" err="1"/>
              <a:t>XGBoost</a:t>
            </a:r>
            <a:r>
              <a:rPr lang="it-IT" b="1" dirty="0"/>
              <a:t> (2016):</a:t>
            </a:r>
            <a:r>
              <a:rPr lang="it-IT" dirty="0"/>
              <a:t> </a:t>
            </a:r>
            <a:r>
              <a:rPr lang="it-IT" dirty="0" err="1"/>
              <a:t>Regularization</a:t>
            </a:r>
            <a:r>
              <a:rPr lang="it-IT" dirty="0"/>
              <a:t>, </a:t>
            </a:r>
            <a:r>
              <a:rPr lang="it-IT" dirty="0" err="1"/>
              <a:t>parallel</a:t>
            </a:r>
            <a:r>
              <a:rPr lang="it-IT" dirty="0"/>
              <a:t> training</a:t>
            </a:r>
          </a:p>
          <a:p>
            <a:r>
              <a:rPr lang="it-IT" b="1" dirty="0" err="1"/>
              <a:t>LightGBM</a:t>
            </a:r>
            <a:r>
              <a:rPr lang="it-IT" b="1" dirty="0"/>
              <a:t> (2017):</a:t>
            </a:r>
            <a:r>
              <a:rPr lang="it-IT" dirty="0"/>
              <a:t> Speed via </a:t>
            </a:r>
            <a:r>
              <a:rPr lang="it-IT" dirty="0" err="1"/>
              <a:t>histogram</a:t>
            </a:r>
            <a:r>
              <a:rPr lang="it-IT" dirty="0"/>
              <a:t> &amp; </a:t>
            </a:r>
            <a:r>
              <a:rPr lang="it-IT" dirty="0" err="1"/>
              <a:t>leaf</a:t>
            </a:r>
            <a:r>
              <a:rPr lang="it-IT" dirty="0"/>
              <a:t>-wise </a:t>
            </a:r>
            <a:r>
              <a:rPr lang="it-IT" dirty="0" err="1"/>
              <a:t>trees</a:t>
            </a:r>
            <a:endParaRPr lang="it-IT" dirty="0"/>
          </a:p>
          <a:p>
            <a:r>
              <a:rPr lang="it-IT" b="1" dirty="0" err="1"/>
              <a:t>CatBoost</a:t>
            </a:r>
            <a:r>
              <a:rPr lang="it-IT" b="1" dirty="0"/>
              <a:t> (2018):</a:t>
            </a:r>
            <a:r>
              <a:rPr lang="it-IT" dirty="0"/>
              <a:t> Handles </a:t>
            </a:r>
            <a:r>
              <a:rPr lang="it-IT" dirty="0" err="1"/>
              <a:t>categorical</a:t>
            </a:r>
            <a:r>
              <a:rPr lang="it-IT" dirty="0"/>
              <a:t> data </a:t>
            </a:r>
            <a:r>
              <a:rPr lang="it-IT" dirty="0" err="1"/>
              <a:t>natively</a:t>
            </a:r>
            <a:endParaRPr lang="it-IT" dirty="0"/>
          </a:p>
          <a:p>
            <a:r>
              <a:rPr lang="it-IT" i="1" dirty="0" err="1"/>
              <a:t>Table</a:t>
            </a:r>
            <a:r>
              <a:rPr lang="it-IT" i="1" dirty="0"/>
              <a:t> or </a:t>
            </a:r>
            <a:r>
              <a:rPr lang="it-IT" i="1" dirty="0" err="1"/>
              <a:t>icons</a:t>
            </a:r>
            <a:r>
              <a:rPr lang="it-IT" dirty="0"/>
              <a:t>: 3 colonne con parole chiave (Speed / </a:t>
            </a:r>
            <a:r>
              <a:rPr lang="it-IT" dirty="0" err="1"/>
              <a:t>Scalability</a:t>
            </a:r>
            <a:r>
              <a:rPr lang="it-IT" dirty="0"/>
              <a:t> / </a:t>
            </a:r>
            <a:r>
              <a:rPr lang="it-IT" dirty="0" err="1"/>
              <a:t>Stability</a:t>
            </a:r>
            <a:r>
              <a:rPr lang="it-IT" dirty="0"/>
              <a:t>)</a:t>
            </a:r>
          </a:p>
          <a:p>
            <a:r>
              <a:rPr lang="it-IT" dirty="0"/>
              <a:t>🎨 </a:t>
            </a:r>
            <a:r>
              <a:rPr lang="it-IT" i="1" dirty="0"/>
              <a:t>Suggerimento</a:t>
            </a:r>
            <a:r>
              <a:rPr lang="it-IT" dirty="0"/>
              <a:t>: icone per “speed” (⚡), “big data” (📊), “</a:t>
            </a:r>
            <a:r>
              <a:rPr lang="it-IT" dirty="0" err="1"/>
              <a:t>categories</a:t>
            </a:r>
            <a:r>
              <a:rPr lang="it-IT" dirty="0"/>
              <a:t>” (🏷️).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5E593-C126-305C-020C-BD380CC55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16826-2BAC-4F49-B52C-E9DC03126A25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0127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68D68-5573-3473-45BA-CAA15CF13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A82A0A-6598-DB97-4EBA-7CA925535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53841-59BC-08BD-5765-A5D0EFE89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Finally, I included a table summarizing the main algorithms and their key characteristics.</a:t>
            </a:r>
          </a:p>
          <a:p>
            <a:endParaRPr lang="it-IT" b="1" dirty="0"/>
          </a:p>
          <a:p>
            <a:r>
              <a:rPr lang="it-IT" b="1" dirty="0"/>
              <a:t>Contenuti (brevissimi):</a:t>
            </a:r>
            <a:endParaRPr lang="it-IT" dirty="0"/>
          </a:p>
          <a:p>
            <a:r>
              <a:rPr lang="it-IT" b="1" dirty="0" err="1"/>
              <a:t>XGBoost</a:t>
            </a:r>
            <a:r>
              <a:rPr lang="it-IT" b="1" dirty="0"/>
              <a:t> (2016):</a:t>
            </a:r>
            <a:r>
              <a:rPr lang="it-IT" dirty="0"/>
              <a:t> </a:t>
            </a:r>
            <a:r>
              <a:rPr lang="it-IT" dirty="0" err="1"/>
              <a:t>Regularization</a:t>
            </a:r>
            <a:r>
              <a:rPr lang="it-IT" dirty="0"/>
              <a:t>, </a:t>
            </a:r>
            <a:r>
              <a:rPr lang="it-IT" dirty="0" err="1"/>
              <a:t>parallel</a:t>
            </a:r>
            <a:r>
              <a:rPr lang="it-IT" dirty="0"/>
              <a:t> training</a:t>
            </a:r>
          </a:p>
          <a:p>
            <a:r>
              <a:rPr lang="it-IT" b="1" dirty="0" err="1"/>
              <a:t>LightGBM</a:t>
            </a:r>
            <a:r>
              <a:rPr lang="it-IT" b="1" dirty="0"/>
              <a:t> (2017):</a:t>
            </a:r>
            <a:r>
              <a:rPr lang="it-IT" dirty="0"/>
              <a:t> Speed via </a:t>
            </a:r>
            <a:r>
              <a:rPr lang="it-IT" dirty="0" err="1"/>
              <a:t>histogram</a:t>
            </a:r>
            <a:r>
              <a:rPr lang="it-IT" dirty="0"/>
              <a:t> &amp; </a:t>
            </a:r>
            <a:r>
              <a:rPr lang="it-IT" dirty="0" err="1"/>
              <a:t>leaf</a:t>
            </a:r>
            <a:r>
              <a:rPr lang="it-IT" dirty="0"/>
              <a:t>-wise </a:t>
            </a:r>
            <a:r>
              <a:rPr lang="it-IT" dirty="0" err="1"/>
              <a:t>trees</a:t>
            </a:r>
            <a:endParaRPr lang="it-IT" dirty="0"/>
          </a:p>
          <a:p>
            <a:r>
              <a:rPr lang="it-IT" b="1" dirty="0" err="1"/>
              <a:t>CatBoost</a:t>
            </a:r>
            <a:r>
              <a:rPr lang="it-IT" b="1" dirty="0"/>
              <a:t> (2018):</a:t>
            </a:r>
            <a:r>
              <a:rPr lang="it-IT" dirty="0"/>
              <a:t> Handles </a:t>
            </a:r>
            <a:r>
              <a:rPr lang="it-IT" dirty="0" err="1"/>
              <a:t>categorical</a:t>
            </a:r>
            <a:r>
              <a:rPr lang="it-IT" dirty="0"/>
              <a:t> data </a:t>
            </a:r>
            <a:r>
              <a:rPr lang="it-IT" dirty="0" err="1"/>
              <a:t>natively</a:t>
            </a:r>
            <a:endParaRPr lang="it-IT" dirty="0"/>
          </a:p>
          <a:p>
            <a:r>
              <a:rPr lang="it-IT" i="1" dirty="0" err="1"/>
              <a:t>Table</a:t>
            </a:r>
            <a:r>
              <a:rPr lang="it-IT" i="1" dirty="0"/>
              <a:t> or </a:t>
            </a:r>
            <a:r>
              <a:rPr lang="it-IT" i="1" dirty="0" err="1"/>
              <a:t>icons</a:t>
            </a:r>
            <a:r>
              <a:rPr lang="it-IT" dirty="0"/>
              <a:t>: 3 colonne con parole chiave (Speed / </a:t>
            </a:r>
            <a:r>
              <a:rPr lang="it-IT" dirty="0" err="1"/>
              <a:t>Scalability</a:t>
            </a:r>
            <a:r>
              <a:rPr lang="it-IT" dirty="0"/>
              <a:t> / </a:t>
            </a:r>
            <a:r>
              <a:rPr lang="it-IT" dirty="0" err="1"/>
              <a:t>Stability</a:t>
            </a:r>
            <a:r>
              <a:rPr lang="it-IT" dirty="0"/>
              <a:t>)</a:t>
            </a:r>
          </a:p>
          <a:p>
            <a:r>
              <a:rPr lang="it-IT" dirty="0"/>
              <a:t>🎨 </a:t>
            </a:r>
            <a:r>
              <a:rPr lang="it-IT" i="1" dirty="0"/>
              <a:t>Suggerimento</a:t>
            </a:r>
            <a:r>
              <a:rPr lang="it-IT" dirty="0"/>
              <a:t>: icone per “speed” (⚡), “big data” (📊), “</a:t>
            </a:r>
            <a:r>
              <a:rPr lang="it-IT" dirty="0" err="1"/>
              <a:t>categories</a:t>
            </a:r>
            <a:r>
              <a:rPr lang="it-IT" dirty="0"/>
              <a:t>” (🏷️).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C5E8C-614F-5E52-4900-48C300E97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16826-2BAC-4F49-B52C-E9DC03126A25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612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D03D4-F24A-E572-B01C-03033551D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75AB1A-489B-761F-3D7A-2A219CE49D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C4D52-A7EE-BE50-F53F-A2F893351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Finally, I included a table summarizing the main algorithms and their key characteristics.</a:t>
            </a:r>
          </a:p>
          <a:p>
            <a:endParaRPr lang="it-IT" b="1" dirty="0"/>
          </a:p>
          <a:p>
            <a:r>
              <a:rPr lang="it-IT" b="1" dirty="0"/>
              <a:t>Contenuti (brevissimi):</a:t>
            </a:r>
            <a:endParaRPr lang="it-IT" dirty="0"/>
          </a:p>
          <a:p>
            <a:r>
              <a:rPr lang="it-IT" b="1" dirty="0" err="1"/>
              <a:t>XGBoost</a:t>
            </a:r>
            <a:r>
              <a:rPr lang="it-IT" b="1" dirty="0"/>
              <a:t> (2016):</a:t>
            </a:r>
            <a:r>
              <a:rPr lang="it-IT" dirty="0"/>
              <a:t> </a:t>
            </a:r>
            <a:r>
              <a:rPr lang="it-IT" dirty="0" err="1"/>
              <a:t>Regularization</a:t>
            </a:r>
            <a:r>
              <a:rPr lang="it-IT" dirty="0"/>
              <a:t>, </a:t>
            </a:r>
            <a:r>
              <a:rPr lang="it-IT" dirty="0" err="1"/>
              <a:t>parallel</a:t>
            </a:r>
            <a:r>
              <a:rPr lang="it-IT" dirty="0"/>
              <a:t> training</a:t>
            </a:r>
          </a:p>
          <a:p>
            <a:r>
              <a:rPr lang="it-IT" b="1" dirty="0" err="1"/>
              <a:t>LightGBM</a:t>
            </a:r>
            <a:r>
              <a:rPr lang="it-IT" b="1" dirty="0"/>
              <a:t> (2017):</a:t>
            </a:r>
            <a:r>
              <a:rPr lang="it-IT" dirty="0"/>
              <a:t> Speed via </a:t>
            </a:r>
            <a:r>
              <a:rPr lang="it-IT" dirty="0" err="1"/>
              <a:t>histogram</a:t>
            </a:r>
            <a:r>
              <a:rPr lang="it-IT" dirty="0"/>
              <a:t> &amp; </a:t>
            </a:r>
            <a:r>
              <a:rPr lang="it-IT" dirty="0" err="1"/>
              <a:t>leaf</a:t>
            </a:r>
            <a:r>
              <a:rPr lang="it-IT" dirty="0"/>
              <a:t>-wise </a:t>
            </a:r>
            <a:r>
              <a:rPr lang="it-IT" dirty="0" err="1"/>
              <a:t>trees</a:t>
            </a:r>
            <a:endParaRPr lang="it-IT" dirty="0"/>
          </a:p>
          <a:p>
            <a:r>
              <a:rPr lang="it-IT" b="1" dirty="0" err="1"/>
              <a:t>CatBoost</a:t>
            </a:r>
            <a:r>
              <a:rPr lang="it-IT" b="1" dirty="0"/>
              <a:t> (2018):</a:t>
            </a:r>
            <a:r>
              <a:rPr lang="it-IT" dirty="0"/>
              <a:t> Handles </a:t>
            </a:r>
            <a:r>
              <a:rPr lang="it-IT" dirty="0" err="1"/>
              <a:t>categorical</a:t>
            </a:r>
            <a:r>
              <a:rPr lang="it-IT" dirty="0"/>
              <a:t> data </a:t>
            </a:r>
            <a:r>
              <a:rPr lang="it-IT" dirty="0" err="1"/>
              <a:t>natively</a:t>
            </a:r>
            <a:endParaRPr lang="it-IT" dirty="0"/>
          </a:p>
          <a:p>
            <a:r>
              <a:rPr lang="it-IT" i="1" dirty="0" err="1"/>
              <a:t>Table</a:t>
            </a:r>
            <a:r>
              <a:rPr lang="it-IT" i="1" dirty="0"/>
              <a:t> or </a:t>
            </a:r>
            <a:r>
              <a:rPr lang="it-IT" i="1" dirty="0" err="1"/>
              <a:t>icons</a:t>
            </a:r>
            <a:r>
              <a:rPr lang="it-IT" dirty="0"/>
              <a:t>: 3 colonne con parole chiave (Speed / </a:t>
            </a:r>
            <a:r>
              <a:rPr lang="it-IT" dirty="0" err="1"/>
              <a:t>Scalability</a:t>
            </a:r>
            <a:r>
              <a:rPr lang="it-IT" dirty="0"/>
              <a:t> / </a:t>
            </a:r>
            <a:r>
              <a:rPr lang="it-IT" dirty="0" err="1"/>
              <a:t>Stability</a:t>
            </a:r>
            <a:r>
              <a:rPr lang="it-IT" dirty="0"/>
              <a:t>)</a:t>
            </a:r>
          </a:p>
          <a:p>
            <a:r>
              <a:rPr lang="it-IT" dirty="0"/>
              <a:t>🎨 </a:t>
            </a:r>
            <a:r>
              <a:rPr lang="it-IT" i="1" dirty="0"/>
              <a:t>Suggerimento</a:t>
            </a:r>
            <a:r>
              <a:rPr lang="it-IT" dirty="0"/>
              <a:t>: icone per “speed” (⚡), “big data” (📊), “</a:t>
            </a:r>
            <a:r>
              <a:rPr lang="it-IT" dirty="0" err="1"/>
              <a:t>categories</a:t>
            </a:r>
            <a:r>
              <a:rPr lang="it-IT" dirty="0"/>
              <a:t>” (🏷️).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32F97-705A-DF12-39B6-D32534722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16826-2BAC-4F49-B52C-E9DC03126A25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86628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395FC-1D7D-E839-D122-2AB7D936E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BDF61-0188-06C4-5086-692DEE142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08011-9071-7D1E-EC4C-23CE71A72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78612-B907-C08D-2D3A-CC90907485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C16826-2BAC-4F49-B52C-E9DC03126A25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5237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18557-0135-2592-48DA-527D01CDF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6FC8E9-9BD4-C9A4-1194-B5EE25E74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C40D2-A5AA-528B-6C90-3F47DF2F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B9E-EC01-4705-BD9E-9539FC8132A2}" type="datetimeFigureOut">
              <a:rPr lang="it-IT" smtClean="0"/>
              <a:t>23/01/2026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818A5-FF09-8DB7-B736-B238E8FDE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9395E-3966-1AC6-0454-35FA976D4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342A-995E-4709-92F9-8412F519FB5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5555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3C602-BB3B-8408-69A6-2D9CCDACD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622C5-13B3-6B24-4D90-B124B4D38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28AF2-7087-8AC0-5E7E-EFFE50F2D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B9E-EC01-4705-BD9E-9539FC8132A2}" type="datetimeFigureOut">
              <a:rPr lang="it-IT" smtClean="0"/>
              <a:t>23/01/2026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88C73-91E4-6F1D-EFC5-5CAD16011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56A2C-C78F-5B75-B8F7-401F74316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342A-995E-4709-92F9-8412F519FB5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9731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329A-1F4C-A835-8C20-A7764D78B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51DB3-80CE-699B-BC8D-43A87DE86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64DEC-9C0A-7CAB-AC39-714241B45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B9E-EC01-4705-BD9E-9539FC8132A2}" type="datetimeFigureOut">
              <a:rPr lang="it-IT" smtClean="0"/>
              <a:t>23/01/2026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4E146-8F33-EAE4-D407-466B107C3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9B67F-7FED-9750-71F7-0C3A23293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342A-995E-4709-92F9-8412F519FB5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798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8A21-ABB9-CD5D-A424-E5B0BBA42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3A104-2E7B-6819-CBF2-93CC411E1B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9C60E-F890-460B-390D-A486DE3DD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4E754-3BF8-BD78-1E6E-9943617F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B9E-EC01-4705-BD9E-9539FC8132A2}" type="datetimeFigureOut">
              <a:rPr lang="it-IT" smtClean="0"/>
              <a:t>23/01/2026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BA999-1B9B-171A-E6B4-AF7BB2A4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09552-FD1D-65AB-8FE7-77FB23BC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342A-995E-4709-92F9-8412F519FB5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9983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F25C-84D1-3540-AB8C-F82B1A6F4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FB1D8-875F-45D1-D6DD-23C001339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7D6C3-7F6F-3A57-69A2-C9CE9E9C3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54DACC-980F-3756-20F1-44454B9E86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03894-22AB-0581-BA41-FC16E7A391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44CF47-B7B9-EF3D-BB81-88D32F11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B9E-EC01-4705-BD9E-9539FC8132A2}" type="datetimeFigureOut">
              <a:rPr lang="it-IT" smtClean="0"/>
              <a:t>23/01/2026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EE581E-0545-7A0F-70ED-16D82AB68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100BC-9C2B-294B-868B-0C943FB1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342A-995E-4709-92F9-8412F519FB5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1814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EB364-D959-A7D3-72E3-E6E6C8FA5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8821F3-F179-86BB-EECA-900CFD0B1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B9E-EC01-4705-BD9E-9539FC8132A2}" type="datetimeFigureOut">
              <a:rPr lang="it-IT" smtClean="0"/>
              <a:t>23/01/2026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714F1-78F7-6A83-517F-8B74F06D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9A1F75-E825-5615-01A4-CFBBEA1D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342A-995E-4709-92F9-8412F519FB5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2586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7463E-F27D-FA95-1215-5E893FEA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B9E-EC01-4705-BD9E-9539FC8132A2}" type="datetimeFigureOut">
              <a:rPr lang="it-IT" smtClean="0"/>
              <a:t>23/01/2026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87FEA4-B250-D72F-58FA-7C550D96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D6485-DF27-4120-2782-C74EB5C57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342A-995E-4709-92F9-8412F519FB5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3080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6487F-13E5-B88F-CD89-C2E118615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165E6-D7A6-A89D-8DF0-16F61DB58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CFCF0-70A2-6892-0F33-BB0767916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FA2C5-D5E5-A5BA-54AE-B6BD92C9F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B9E-EC01-4705-BD9E-9539FC8132A2}" type="datetimeFigureOut">
              <a:rPr lang="it-IT" smtClean="0"/>
              <a:t>23/01/2026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31577-D029-8984-9AE8-44E84FD85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96F21-52C6-2A01-DFDD-9B354C537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342A-995E-4709-92F9-8412F519FB5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5040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841E5-6A58-FC9E-2FBE-F3DB5703E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5C2CEB-F54C-CBBC-CCA7-C230FCD5A5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02F3D-CDC8-BC30-2B6D-91D953E2F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34724-50EB-EEF4-89E9-F1C05AE83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B9E-EC01-4705-BD9E-9539FC8132A2}" type="datetimeFigureOut">
              <a:rPr lang="it-IT" smtClean="0"/>
              <a:t>23/01/2026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5B624-8646-3DAD-0F68-6E4BABA6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202B9-FA61-1A6F-86D7-5E5C02B7F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342A-995E-4709-92F9-8412F519FB5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5187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6C7A-4FD7-BC6B-7A91-48FB8D86D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058E0-3F1C-59CF-860A-A07A61820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C4818-5DE1-0CFB-B32F-893B2D8A3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B9E-EC01-4705-BD9E-9539FC8132A2}" type="datetimeFigureOut">
              <a:rPr lang="it-IT" smtClean="0"/>
              <a:t>23/01/2026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3B234-68ED-51C2-F563-DDED00823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9D63E-B366-FDE7-274A-360D401F2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342A-995E-4709-92F9-8412F519FB5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2195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CC8CF6-0680-8BDE-8DFC-A70ECDCBB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14DCF3-792C-63F9-0865-735F44ECC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A3B3B-4B91-9B2B-9C71-E714F26D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B9E-EC01-4705-BD9E-9539FC8132A2}" type="datetimeFigureOut">
              <a:rPr lang="it-IT" smtClean="0"/>
              <a:t>23/01/2026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89484-0DD3-9636-0528-3729396D1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0D069-2C06-F17B-5397-470E060D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E342A-995E-4709-92F9-8412F519FB5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1290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FA9A86-4B79-2014-66F5-7F493B179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0DA16-6BCC-328D-53E9-6FF07DD89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31D1A-3DD3-C236-0F27-C7C190757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CF7B9E-EC01-4705-BD9E-9539FC8132A2}" type="datetimeFigureOut">
              <a:rPr lang="it-IT" smtClean="0"/>
              <a:t>23/01/2026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53EFB-EC42-F129-6D6B-48F2664C4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8D4B5-2407-FC2C-737B-F38094F6B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E342A-995E-4709-92F9-8412F519FB5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3731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 4">
            <a:extLst>
              <a:ext uri="{FF2B5EF4-FFF2-40B4-BE49-F238E27FC236}">
                <a16:creationId xmlns:a16="http://schemas.microsoft.com/office/drawing/2014/main" id="{0D4B6425-7819-56D0-0BA7-B61B03882785}"/>
              </a:ext>
            </a:extLst>
          </p:cNvPr>
          <p:cNvSpPr/>
          <p:nvPr/>
        </p:nvSpPr>
        <p:spPr>
          <a:xfrm>
            <a:off x="497730" y="1754580"/>
            <a:ext cx="7301564" cy="2979579"/>
          </a:xfrm>
          <a:prstGeom prst="parallelogram">
            <a:avLst>
              <a:gd name="adj" fmla="val 31438"/>
            </a:avLst>
          </a:prstGeom>
          <a:solidFill>
            <a:srgbClr val="B61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45A8CFDE-A46A-4B09-BB9C-051595A5674F}"/>
              </a:ext>
            </a:extLst>
          </p:cNvPr>
          <p:cNvSpPr/>
          <p:nvPr/>
        </p:nvSpPr>
        <p:spPr>
          <a:xfrm flipH="1">
            <a:off x="2013528" y="2279853"/>
            <a:ext cx="8532000" cy="1929031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331 w 10000"/>
              <a:gd name="connsiteY3" fmla="*/ 9321 h 10000"/>
              <a:gd name="connsiteX4" fmla="*/ 0 w 10000"/>
              <a:gd name="connsiteY4" fmla="*/ 10000 h 10000"/>
              <a:gd name="connsiteX0" fmla="*/ 0 w 9543"/>
              <a:gd name="connsiteY0" fmla="*/ 9079 h 9321"/>
              <a:gd name="connsiteX1" fmla="*/ 1543 w 9543"/>
              <a:gd name="connsiteY1" fmla="*/ 0 h 9321"/>
              <a:gd name="connsiteX2" fmla="*/ 9543 w 9543"/>
              <a:gd name="connsiteY2" fmla="*/ 0 h 9321"/>
              <a:gd name="connsiteX3" fmla="*/ 8874 w 9543"/>
              <a:gd name="connsiteY3" fmla="*/ 9321 h 9321"/>
              <a:gd name="connsiteX4" fmla="*/ 0 w 9543"/>
              <a:gd name="connsiteY4" fmla="*/ 9079 h 9321"/>
              <a:gd name="connsiteX0" fmla="*/ 0 w 10128"/>
              <a:gd name="connsiteY0" fmla="*/ 10208 h 10208"/>
              <a:gd name="connsiteX1" fmla="*/ 1745 w 10128"/>
              <a:gd name="connsiteY1" fmla="*/ 0 h 10208"/>
              <a:gd name="connsiteX2" fmla="*/ 10128 w 10128"/>
              <a:gd name="connsiteY2" fmla="*/ 0 h 10208"/>
              <a:gd name="connsiteX3" fmla="*/ 9427 w 10128"/>
              <a:gd name="connsiteY3" fmla="*/ 10000 h 10208"/>
              <a:gd name="connsiteX4" fmla="*/ 0 w 10128"/>
              <a:gd name="connsiteY4" fmla="*/ 10208 h 10208"/>
              <a:gd name="connsiteX0" fmla="*/ 0 w 10128"/>
              <a:gd name="connsiteY0" fmla="*/ 10208 h 10208"/>
              <a:gd name="connsiteX1" fmla="*/ 723 w 10128"/>
              <a:gd name="connsiteY1" fmla="*/ 208 h 10208"/>
              <a:gd name="connsiteX2" fmla="*/ 10128 w 10128"/>
              <a:gd name="connsiteY2" fmla="*/ 0 h 10208"/>
              <a:gd name="connsiteX3" fmla="*/ 9427 w 10128"/>
              <a:gd name="connsiteY3" fmla="*/ 10000 h 10208"/>
              <a:gd name="connsiteX4" fmla="*/ 0 w 10128"/>
              <a:gd name="connsiteY4" fmla="*/ 10208 h 10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28" h="10208">
                <a:moveTo>
                  <a:pt x="0" y="10208"/>
                </a:moveTo>
                <a:lnTo>
                  <a:pt x="723" y="208"/>
                </a:lnTo>
                <a:lnTo>
                  <a:pt x="10128" y="0"/>
                </a:lnTo>
                <a:cubicBezTo>
                  <a:pt x="9894" y="3333"/>
                  <a:pt x="9661" y="6667"/>
                  <a:pt x="9427" y="10000"/>
                </a:cubicBezTo>
                <a:lnTo>
                  <a:pt x="0" y="10208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8102EF8-5CD0-F053-F567-314F80C45769}"/>
              </a:ext>
            </a:extLst>
          </p:cNvPr>
          <p:cNvSpPr txBox="1">
            <a:spLocks/>
          </p:cNvSpPr>
          <p:nvPr/>
        </p:nvSpPr>
        <p:spPr>
          <a:xfrm>
            <a:off x="1524000" y="2739965"/>
            <a:ext cx="9144000" cy="1008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it-IT" sz="3600" dirty="0">
              <a:solidFill>
                <a:srgbClr val="0D0D0D"/>
              </a:solidFill>
              <a:cs typeface="Calibri Light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7FFC34E3-1130-8298-0755-1260A1F9CD31}"/>
              </a:ext>
            </a:extLst>
          </p:cNvPr>
          <p:cNvSpPr txBox="1"/>
          <p:nvPr/>
        </p:nvSpPr>
        <p:spPr>
          <a:xfrm>
            <a:off x="4757366" y="6550223"/>
            <a:ext cx="2835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 err="1"/>
              <a:t>Escuela</a:t>
            </a:r>
            <a:r>
              <a:rPr lang="it-IT" sz="1400" b="1" dirty="0"/>
              <a:t> Superior de </a:t>
            </a:r>
            <a:r>
              <a:rPr lang="it-IT" sz="1400" b="1" dirty="0" err="1"/>
              <a:t>Informática</a:t>
            </a:r>
            <a:endParaRPr lang="it-IT" sz="14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359EAC-EF03-AFAC-201C-00A5D3E01204}"/>
              </a:ext>
            </a:extLst>
          </p:cNvPr>
          <p:cNvSpPr txBox="1">
            <a:spLocks/>
          </p:cNvSpPr>
          <p:nvPr/>
        </p:nvSpPr>
        <p:spPr>
          <a:xfrm>
            <a:off x="4516042" y="3662064"/>
            <a:ext cx="9144000" cy="5044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2000" b="1" dirty="0">
                <a:cs typeface="Calibri Light"/>
              </a:rPr>
              <a:t>Matteo Amagliani </a:t>
            </a:r>
            <a:endParaRPr lang="it-IT" sz="2000" b="1" dirty="0">
              <a:solidFill>
                <a:srgbClr val="0D0D0D"/>
              </a:solidFill>
              <a:cs typeface="Calibri Light"/>
            </a:endParaRPr>
          </a:p>
        </p:txBody>
      </p:sp>
      <p:pic>
        <p:nvPicPr>
          <p:cNvPr id="1026" name="Picture 2" descr="Identidad Visual Corporativa">
            <a:extLst>
              <a:ext uri="{FF2B5EF4-FFF2-40B4-BE49-F238E27FC236}">
                <a16:creationId xmlns:a16="http://schemas.microsoft.com/office/drawing/2014/main" id="{DEB3EBB5-4AB4-DA90-BC36-B26C95124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54" y="210745"/>
            <a:ext cx="3736701" cy="674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marca - Escuela Superior de Informática de UCLM">
            <a:extLst>
              <a:ext uri="{FF2B5EF4-FFF2-40B4-BE49-F238E27FC236}">
                <a16:creationId xmlns:a16="http://schemas.microsoft.com/office/drawing/2014/main" id="{FDC68474-1AF4-FD70-904B-9B3517B26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399" y="210745"/>
            <a:ext cx="811236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8872FB1E-5B02-F5FF-C917-AD18898CDC32}"/>
              </a:ext>
            </a:extLst>
          </p:cNvPr>
          <p:cNvSpPr/>
          <p:nvPr/>
        </p:nvSpPr>
        <p:spPr>
          <a:xfrm flipH="1">
            <a:off x="11169518" y="4187339"/>
            <a:ext cx="1022482" cy="2670661"/>
          </a:xfrm>
          <a:prstGeom prst="rtTriangle">
            <a:avLst/>
          </a:prstGeom>
          <a:solidFill>
            <a:srgbClr val="B617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26">
            <a:extLst>
              <a:ext uri="{FF2B5EF4-FFF2-40B4-BE49-F238E27FC236}">
                <a16:creationId xmlns:a16="http://schemas.microsoft.com/office/drawing/2014/main" id="{488CD8CD-7694-975B-D8BA-72C1982553AB}"/>
              </a:ext>
            </a:extLst>
          </p:cNvPr>
          <p:cNvSpPr txBox="1"/>
          <p:nvPr/>
        </p:nvSpPr>
        <p:spPr>
          <a:xfrm>
            <a:off x="-1190874" y="6550223"/>
            <a:ext cx="3603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27/01/2026</a:t>
            </a:r>
          </a:p>
        </p:txBody>
      </p:sp>
      <p:pic>
        <p:nvPicPr>
          <p:cNvPr id="1030" name="Picture 6" descr="HashiCorp Vault - ITQ">
            <a:extLst>
              <a:ext uri="{FF2B5EF4-FFF2-40B4-BE49-F238E27FC236}">
                <a16:creationId xmlns:a16="http://schemas.microsoft.com/office/drawing/2014/main" id="{F94DD782-763C-22C5-39E4-3284BA852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844" y="2489494"/>
            <a:ext cx="4159450" cy="1510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3277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318C1-2CFA-3BEB-71A5-0BD59E6A8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317" y="209551"/>
            <a:ext cx="4608712" cy="675552"/>
          </a:xfrm>
        </p:spPr>
        <p:txBody>
          <a:bodyPr>
            <a:normAutofit/>
          </a:bodyPr>
          <a:lstStyle/>
          <a:p>
            <a:r>
              <a:rPr lang="it-IT" sz="3000" b="1" dirty="0"/>
              <a:t>The security challenge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6D5F4D-18BA-852A-10CB-CCC6A45DCE55}"/>
              </a:ext>
            </a:extLst>
          </p:cNvPr>
          <p:cNvSpPr/>
          <p:nvPr/>
        </p:nvSpPr>
        <p:spPr>
          <a:xfrm>
            <a:off x="0" y="6609143"/>
            <a:ext cx="12192000" cy="248857"/>
          </a:xfrm>
          <a:prstGeom prst="rect">
            <a:avLst/>
          </a:prstGeom>
          <a:solidFill>
            <a:srgbClr val="B61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ctr"/>
          <a:lstStyle/>
          <a:p>
            <a:pPr algn="ctr"/>
            <a:r>
              <a:rPr lang="en-US" sz="1600" dirty="0" err="1">
                <a:cs typeface="Calibri Light"/>
              </a:rPr>
              <a:t>HashiCorp</a:t>
            </a:r>
            <a:r>
              <a:rPr lang="en-US" sz="1600" dirty="0">
                <a:cs typeface="Calibri Light"/>
              </a:rPr>
              <a:t> Vault</a:t>
            </a:r>
          </a:p>
          <a:p>
            <a:pPr algn="ctr"/>
            <a:r>
              <a:rPr lang="en-US" sz="1600" dirty="0">
                <a:cs typeface="Calibri Light"/>
              </a:rPr>
              <a:t>Network Security</a:t>
            </a:r>
          </a:p>
          <a:p>
            <a:pPr algn="ctr"/>
            <a:fld id="{7DABA579-DE0C-4F2E-A06D-19833EA51114}" type="slidenum">
              <a:rPr lang="it-IT" sz="1600" dirty="0">
                <a:cs typeface="Calibri Light"/>
              </a:rPr>
              <a:t>2</a:t>
            </a:fld>
            <a:endParaRPr lang="en-US" sz="1600" dirty="0">
              <a:cs typeface="Calibri Light"/>
            </a:endParaRPr>
          </a:p>
        </p:txBody>
      </p:sp>
      <p:pic>
        <p:nvPicPr>
          <p:cNvPr id="6" name="Picture 2" descr="Identidad Visual Corporativa">
            <a:extLst>
              <a:ext uri="{FF2B5EF4-FFF2-40B4-BE49-F238E27FC236}">
                <a16:creationId xmlns:a16="http://schemas.microsoft.com/office/drawing/2014/main" id="{3AF3ADAB-FEBD-F472-9BC6-A74212F60A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9" r="71013" b="-1"/>
          <a:stretch>
            <a:fillRect/>
          </a:stretch>
        </p:blipFill>
        <p:spPr bwMode="auto">
          <a:xfrm>
            <a:off x="62755" y="209551"/>
            <a:ext cx="1083140" cy="67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AB3213-4D62-C340-2349-628A0B0AB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398" y="1985771"/>
            <a:ext cx="9764910" cy="32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87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DFFED-5DCF-9DA4-7F3B-307AC0060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158CD-0124-EA75-FC64-5CC38A069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360" y="209551"/>
            <a:ext cx="4289587" cy="675552"/>
          </a:xfrm>
        </p:spPr>
        <p:txBody>
          <a:bodyPr>
            <a:normAutofit/>
          </a:bodyPr>
          <a:lstStyle/>
          <a:p>
            <a:r>
              <a:rPr lang="it-IT" sz="3000" b="1" dirty="0"/>
              <a:t>First look </a:t>
            </a:r>
            <a:r>
              <a:rPr lang="it-IT" sz="3000" b="1" dirty="0" err="1"/>
              <a:t>at</a:t>
            </a:r>
            <a:r>
              <a:rPr lang="it-IT" sz="3000" b="1" dirty="0"/>
              <a:t> </a:t>
            </a:r>
            <a:r>
              <a:rPr lang="it-IT" sz="3000" b="1" dirty="0" err="1"/>
              <a:t>Vault</a:t>
            </a:r>
            <a:endParaRPr lang="it-IT" sz="30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618C0D-40D8-B636-3D46-D6A63ABDDB9E}"/>
              </a:ext>
            </a:extLst>
          </p:cNvPr>
          <p:cNvSpPr/>
          <p:nvPr/>
        </p:nvSpPr>
        <p:spPr>
          <a:xfrm>
            <a:off x="0" y="6609143"/>
            <a:ext cx="12192000" cy="248857"/>
          </a:xfrm>
          <a:prstGeom prst="rect">
            <a:avLst/>
          </a:prstGeom>
          <a:solidFill>
            <a:srgbClr val="B61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ctr"/>
          <a:lstStyle/>
          <a:p>
            <a:pPr algn="ctr"/>
            <a:r>
              <a:rPr lang="en-US" sz="1600" dirty="0" err="1">
                <a:cs typeface="Calibri Light"/>
              </a:rPr>
              <a:t>HashiCorp</a:t>
            </a:r>
            <a:r>
              <a:rPr lang="en-US" sz="1600" dirty="0">
                <a:cs typeface="Calibri Light"/>
              </a:rPr>
              <a:t> Vault</a:t>
            </a:r>
          </a:p>
          <a:p>
            <a:pPr algn="ctr"/>
            <a:r>
              <a:rPr lang="en-US" sz="1600" dirty="0">
                <a:cs typeface="Calibri Light"/>
              </a:rPr>
              <a:t>Network Security</a:t>
            </a:r>
          </a:p>
          <a:p>
            <a:pPr algn="ctr"/>
            <a:fld id="{7DABA579-DE0C-4F2E-A06D-19833EA51114}" type="slidenum">
              <a:rPr lang="it-IT" sz="1600" smtClean="0">
                <a:cs typeface="Calibri Light"/>
              </a:rPr>
              <a:t>3</a:t>
            </a:fld>
            <a:endParaRPr lang="en-US" sz="1600" dirty="0">
              <a:cs typeface="Calibri Light"/>
            </a:endParaRPr>
          </a:p>
        </p:txBody>
      </p:sp>
      <p:pic>
        <p:nvPicPr>
          <p:cNvPr id="6" name="Picture 2" descr="Identidad Visual Corporativa">
            <a:extLst>
              <a:ext uri="{FF2B5EF4-FFF2-40B4-BE49-F238E27FC236}">
                <a16:creationId xmlns:a16="http://schemas.microsoft.com/office/drawing/2014/main" id="{75C43693-87EA-C4B2-959E-918B0EE166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9" r="71013" b="-1"/>
          <a:stretch>
            <a:fillRect/>
          </a:stretch>
        </p:blipFill>
        <p:spPr bwMode="auto">
          <a:xfrm>
            <a:off x="62755" y="209551"/>
            <a:ext cx="1083140" cy="67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459F62-A4FD-1970-8555-2E077271AA33}"/>
              </a:ext>
            </a:extLst>
          </p:cNvPr>
          <p:cNvSpPr txBox="1"/>
          <p:nvPr/>
        </p:nvSpPr>
        <p:spPr>
          <a:xfrm>
            <a:off x="5303042" y="5927080"/>
            <a:ext cx="1585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Source: IBM</a:t>
            </a:r>
          </a:p>
        </p:txBody>
      </p:sp>
    </p:spTree>
    <p:extLst>
      <p:ext uri="{BB962C8B-B14F-4D97-AF65-F5344CB8AC3E}">
        <p14:creationId xmlns:p14="http://schemas.microsoft.com/office/powerpoint/2010/main" val="2027172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BE6FA-6D32-E184-0FE3-F51CCE6CE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F814-5E5B-F5C1-84AF-96D6F1FF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360" y="209551"/>
            <a:ext cx="6840282" cy="675552"/>
          </a:xfrm>
        </p:spPr>
        <p:txBody>
          <a:bodyPr>
            <a:normAutofit/>
          </a:bodyPr>
          <a:lstStyle/>
          <a:p>
            <a:r>
              <a:rPr lang="en-US" sz="3000" b="1" dirty="0"/>
              <a:t>Vault: use cases</a:t>
            </a:r>
            <a:endParaRPr lang="it-IT" sz="30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48D673-B23B-70CC-5335-4EF0EA1C4B6B}"/>
              </a:ext>
            </a:extLst>
          </p:cNvPr>
          <p:cNvSpPr/>
          <p:nvPr/>
        </p:nvSpPr>
        <p:spPr>
          <a:xfrm>
            <a:off x="0" y="6609143"/>
            <a:ext cx="12192000" cy="248857"/>
          </a:xfrm>
          <a:prstGeom prst="rect">
            <a:avLst/>
          </a:prstGeom>
          <a:solidFill>
            <a:srgbClr val="B61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ctr"/>
          <a:lstStyle/>
          <a:p>
            <a:pPr algn="ctr"/>
            <a:r>
              <a:rPr lang="en-US" sz="1600" dirty="0" err="1">
                <a:cs typeface="Calibri Light"/>
              </a:rPr>
              <a:t>HashiCorp</a:t>
            </a:r>
            <a:r>
              <a:rPr lang="en-US" sz="1600" dirty="0">
                <a:cs typeface="Calibri Light"/>
              </a:rPr>
              <a:t> Vault</a:t>
            </a:r>
          </a:p>
          <a:p>
            <a:pPr algn="ctr"/>
            <a:r>
              <a:rPr lang="en-US" sz="1600" dirty="0">
                <a:cs typeface="Calibri Light"/>
              </a:rPr>
              <a:t>Network Security</a:t>
            </a:r>
          </a:p>
          <a:p>
            <a:pPr algn="ctr"/>
            <a:fld id="{7DABA579-DE0C-4F2E-A06D-19833EA51114}" type="slidenum">
              <a:rPr lang="it-IT" sz="1600" smtClean="0">
                <a:cs typeface="Calibri Light"/>
              </a:rPr>
              <a:t>4</a:t>
            </a:fld>
            <a:endParaRPr lang="en-US" sz="1600" dirty="0">
              <a:cs typeface="Calibri Light"/>
            </a:endParaRPr>
          </a:p>
        </p:txBody>
      </p:sp>
      <p:pic>
        <p:nvPicPr>
          <p:cNvPr id="6" name="Picture 2" descr="Identidad Visual Corporativa">
            <a:extLst>
              <a:ext uri="{FF2B5EF4-FFF2-40B4-BE49-F238E27FC236}">
                <a16:creationId xmlns:a16="http://schemas.microsoft.com/office/drawing/2014/main" id="{3C0039FA-5649-13DE-AD6E-B14E6F9E5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9" r="71013" b="-1"/>
          <a:stretch>
            <a:fillRect/>
          </a:stretch>
        </p:blipFill>
        <p:spPr bwMode="auto">
          <a:xfrm>
            <a:off x="62755" y="209551"/>
            <a:ext cx="1083140" cy="67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D474B7-8FE8-0264-8164-1F4C894099E6}"/>
              </a:ext>
            </a:extLst>
          </p:cNvPr>
          <p:cNvSpPr txBox="1"/>
          <p:nvPr/>
        </p:nvSpPr>
        <p:spPr>
          <a:xfrm>
            <a:off x="3004457" y="1698171"/>
            <a:ext cx="448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VARIE SLIDES…</a:t>
            </a:r>
          </a:p>
        </p:txBody>
      </p:sp>
    </p:spTree>
    <p:extLst>
      <p:ext uri="{BB962C8B-B14F-4D97-AF65-F5344CB8AC3E}">
        <p14:creationId xmlns:p14="http://schemas.microsoft.com/office/powerpoint/2010/main" val="3966170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2AFF1-04A3-632A-9D10-2ED4D115B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37B4C-7DE8-E06A-77B1-26BCFF364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360" y="209551"/>
            <a:ext cx="5974008" cy="675552"/>
          </a:xfrm>
        </p:spPr>
        <p:txBody>
          <a:bodyPr>
            <a:normAutofit/>
          </a:bodyPr>
          <a:lstStyle/>
          <a:p>
            <a:r>
              <a:rPr lang="it-IT" sz="3000" b="1" dirty="0"/>
              <a:t>Core and </a:t>
            </a:r>
            <a:r>
              <a:rPr lang="it-IT" sz="3000" b="1" dirty="0" err="1"/>
              <a:t>Architecure</a:t>
            </a:r>
            <a:endParaRPr lang="it-IT" sz="30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4B6168-32A2-9D5D-711C-9C180C0B56ED}"/>
              </a:ext>
            </a:extLst>
          </p:cNvPr>
          <p:cNvSpPr/>
          <p:nvPr/>
        </p:nvSpPr>
        <p:spPr>
          <a:xfrm>
            <a:off x="0" y="6609143"/>
            <a:ext cx="12192000" cy="248857"/>
          </a:xfrm>
          <a:prstGeom prst="rect">
            <a:avLst/>
          </a:prstGeom>
          <a:solidFill>
            <a:srgbClr val="B61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ctr"/>
          <a:lstStyle/>
          <a:p>
            <a:pPr algn="ctr"/>
            <a:r>
              <a:rPr lang="en-US" sz="1600" dirty="0" err="1">
                <a:cs typeface="Calibri Light"/>
              </a:rPr>
              <a:t>HashiCorp</a:t>
            </a:r>
            <a:r>
              <a:rPr lang="en-US" sz="1600" dirty="0">
                <a:cs typeface="Calibri Light"/>
              </a:rPr>
              <a:t> Vault</a:t>
            </a:r>
          </a:p>
          <a:p>
            <a:pPr algn="ctr"/>
            <a:r>
              <a:rPr lang="en-US" sz="1600" dirty="0">
                <a:cs typeface="Calibri Light"/>
              </a:rPr>
              <a:t>Network Security</a:t>
            </a:r>
          </a:p>
          <a:p>
            <a:pPr algn="ctr"/>
            <a:fld id="{7DABA579-DE0C-4F2E-A06D-19833EA51114}" type="slidenum">
              <a:rPr lang="it-IT" sz="1600" smtClean="0">
                <a:cs typeface="Calibri Light"/>
              </a:rPr>
              <a:t>5</a:t>
            </a:fld>
            <a:endParaRPr lang="en-US" sz="1600" dirty="0">
              <a:cs typeface="Calibri Light"/>
            </a:endParaRPr>
          </a:p>
        </p:txBody>
      </p:sp>
      <p:pic>
        <p:nvPicPr>
          <p:cNvPr id="6" name="Picture 2" descr="Identidad Visual Corporativa">
            <a:extLst>
              <a:ext uri="{FF2B5EF4-FFF2-40B4-BE49-F238E27FC236}">
                <a16:creationId xmlns:a16="http://schemas.microsoft.com/office/drawing/2014/main" id="{80CD1CEA-638D-0977-14A0-90A0F1C1ED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9" r="71013" b="-1"/>
          <a:stretch>
            <a:fillRect/>
          </a:stretch>
        </p:blipFill>
        <p:spPr bwMode="auto">
          <a:xfrm>
            <a:off x="62755" y="209551"/>
            <a:ext cx="1083140" cy="67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6" descr="What is Gradient Boosting (GBM)? Describe how does the Gradient Boosting  algorithm work | AIML.com">
            <a:extLst>
              <a:ext uri="{FF2B5EF4-FFF2-40B4-BE49-F238E27FC236}">
                <a16:creationId xmlns:a16="http://schemas.microsoft.com/office/drawing/2014/main" id="{E10247A1-11B7-5ADD-5BF2-975D1979CB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12757" y="545757"/>
            <a:ext cx="3035643" cy="3035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330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F71A9-07A0-BA75-ECC2-C5FBF1ED8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D74D8-39C4-A700-A6EA-7CE372D6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360" y="209551"/>
            <a:ext cx="5974008" cy="675552"/>
          </a:xfrm>
        </p:spPr>
        <p:txBody>
          <a:bodyPr>
            <a:normAutofit/>
          </a:bodyPr>
          <a:lstStyle/>
          <a:p>
            <a:r>
              <a:rPr lang="it-IT" sz="3000" b="1" dirty="0" err="1"/>
              <a:t>Typical</a:t>
            </a:r>
            <a:r>
              <a:rPr lang="it-IT" sz="3000" b="1" dirty="0"/>
              <a:t>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4982C7-82CE-AC9C-0DFF-55B394682778}"/>
              </a:ext>
            </a:extLst>
          </p:cNvPr>
          <p:cNvSpPr/>
          <p:nvPr/>
        </p:nvSpPr>
        <p:spPr>
          <a:xfrm>
            <a:off x="0" y="6609143"/>
            <a:ext cx="12192000" cy="248857"/>
          </a:xfrm>
          <a:prstGeom prst="rect">
            <a:avLst/>
          </a:prstGeom>
          <a:solidFill>
            <a:srgbClr val="B61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ctr"/>
          <a:lstStyle/>
          <a:p>
            <a:pPr algn="ctr"/>
            <a:r>
              <a:rPr lang="en-US" sz="1600" dirty="0" err="1">
                <a:cs typeface="Calibri Light"/>
              </a:rPr>
              <a:t>HashiCorp</a:t>
            </a:r>
            <a:r>
              <a:rPr lang="en-US" sz="1600" dirty="0">
                <a:cs typeface="Calibri Light"/>
              </a:rPr>
              <a:t> Vault</a:t>
            </a:r>
          </a:p>
          <a:p>
            <a:pPr algn="ctr"/>
            <a:r>
              <a:rPr lang="en-US" sz="1600" dirty="0">
                <a:cs typeface="Calibri Light"/>
              </a:rPr>
              <a:t>Network Security</a:t>
            </a:r>
          </a:p>
          <a:p>
            <a:pPr algn="ctr"/>
            <a:fld id="{7DABA579-DE0C-4F2E-A06D-19833EA51114}" type="slidenum">
              <a:rPr lang="it-IT" sz="1600" smtClean="0">
                <a:cs typeface="Calibri Light"/>
              </a:rPr>
              <a:t>6</a:t>
            </a:fld>
            <a:endParaRPr lang="en-US" sz="1600" dirty="0">
              <a:cs typeface="Calibri Light"/>
            </a:endParaRPr>
          </a:p>
        </p:txBody>
      </p:sp>
      <p:pic>
        <p:nvPicPr>
          <p:cNvPr id="6" name="Picture 2" descr="Identidad Visual Corporativa">
            <a:extLst>
              <a:ext uri="{FF2B5EF4-FFF2-40B4-BE49-F238E27FC236}">
                <a16:creationId xmlns:a16="http://schemas.microsoft.com/office/drawing/2014/main" id="{1AF511A4-FD8B-C545-7472-0B30A7C90C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9" r="71013" b="-1"/>
          <a:stretch>
            <a:fillRect/>
          </a:stretch>
        </p:blipFill>
        <p:spPr bwMode="auto">
          <a:xfrm>
            <a:off x="62755" y="209551"/>
            <a:ext cx="1083140" cy="67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8239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32FC3-F540-4D50-DA55-BEF12292B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43364-0BB8-57C9-5175-2BBBDB043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360" y="209551"/>
            <a:ext cx="5974008" cy="675552"/>
          </a:xfrm>
        </p:spPr>
        <p:txBody>
          <a:bodyPr>
            <a:normAutofit/>
          </a:bodyPr>
          <a:lstStyle/>
          <a:p>
            <a:r>
              <a:rPr lang="it-IT" sz="3000" b="1" dirty="0"/>
              <a:t>Concepts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F15B51-D98D-0D0B-7F80-81FD752A154F}"/>
              </a:ext>
            </a:extLst>
          </p:cNvPr>
          <p:cNvSpPr/>
          <p:nvPr/>
        </p:nvSpPr>
        <p:spPr>
          <a:xfrm>
            <a:off x="0" y="6609143"/>
            <a:ext cx="12192000" cy="248857"/>
          </a:xfrm>
          <a:prstGeom prst="rect">
            <a:avLst/>
          </a:prstGeom>
          <a:solidFill>
            <a:srgbClr val="B61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ctr"/>
          <a:lstStyle/>
          <a:p>
            <a:pPr algn="ctr"/>
            <a:r>
              <a:rPr lang="en-US" sz="1600" dirty="0" err="1">
                <a:cs typeface="Calibri Light"/>
              </a:rPr>
              <a:t>HashiCorp</a:t>
            </a:r>
            <a:r>
              <a:rPr lang="en-US" sz="1600" dirty="0">
                <a:cs typeface="Calibri Light"/>
              </a:rPr>
              <a:t> Vault</a:t>
            </a:r>
          </a:p>
          <a:p>
            <a:pPr algn="ctr"/>
            <a:r>
              <a:rPr lang="en-US" sz="1600" dirty="0">
                <a:cs typeface="Calibri Light"/>
              </a:rPr>
              <a:t>Network Security</a:t>
            </a:r>
          </a:p>
          <a:p>
            <a:pPr algn="ctr"/>
            <a:fld id="{7DABA579-DE0C-4F2E-A06D-19833EA51114}" type="slidenum">
              <a:rPr lang="it-IT" sz="1600" smtClean="0">
                <a:cs typeface="Calibri Light"/>
              </a:rPr>
              <a:t>7</a:t>
            </a:fld>
            <a:endParaRPr lang="en-US" sz="1600" dirty="0">
              <a:cs typeface="Calibri Light"/>
            </a:endParaRPr>
          </a:p>
        </p:txBody>
      </p:sp>
      <p:pic>
        <p:nvPicPr>
          <p:cNvPr id="6" name="Picture 2" descr="Identidad Visual Corporativa">
            <a:extLst>
              <a:ext uri="{FF2B5EF4-FFF2-40B4-BE49-F238E27FC236}">
                <a16:creationId xmlns:a16="http://schemas.microsoft.com/office/drawing/2014/main" id="{F85080B5-E9BB-C3F2-4B5C-0629CC8F6D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9" r="71013" b="-1"/>
          <a:stretch>
            <a:fillRect/>
          </a:stretch>
        </p:blipFill>
        <p:spPr bwMode="auto">
          <a:xfrm>
            <a:off x="62755" y="209551"/>
            <a:ext cx="1083140" cy="67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614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FB057-F4DB-F01F-C415-C0CDD68A8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AD584-6B83-0196-3AE3-62055CC4C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360" y="209551"/>
            <a:ext cx="5974008" cy="675552"/>
          </a:xfrm>
        </p:spPr>
        <p:txBody>
          <a:bodyPr>
            <a:normAutofit/>
          </a:bodyPr>
          <a:lstStyle/>
          <a:p>
            <a:r>
              <a:rPr lang="it-IT" sz="3000" b="1" dirty="0"/>
              <a:t>Hands-On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41532D-E08C-2B15-ED89-2BBA37E176DF}"/>
              </a:ext>
            </a:extLst>
          </p:cNvPr>
          <p:cNvSpPr/>
          <p:nvPr/>
        </p:nvSpPr>
        <p:spPr>
          <a:xfrm>
            <a:off x="0" y="6609143"/>
            <a:ext cx="12192000" cy="248857"/>
          </a:xfrm>
          <a:prstGeom prst="rect">
            <a:avLst/>
          </a:prstGeom>
          <a:solidFill>
            <a:srgbClr val="B61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ctr"/>
          <a:lstStyle/>
          <a:p>
            <a:pPr algn="ctr"/>
            <a:r>
              <a:rPr lang="en-US" sz="1600" dirty="0" err="1">
                <a:cs typeface="Calibri Light"/>
              </a:rPr>
              <a:t>HashiCorp</a:t>
            </a:r>
            <a:r>
              <a:rPr lang="en-US" sz="1600" dirty="0">
                <a:cs typeface="Calibri Light"/>
              </a:rPr>
              <a:t> Vault</a:t>
            </a:r>
          </a:p>
          <a:p>
            <a:pPr algn="ctr"/>
            <a:r>
              <a:rPr lang="en-US" sz="1600" dirty="0">
                <a:cs typeface="Calibri Light"/>
              </a:rPr>
              <a:t>Network Security</a:t>
            </a:r>
          </a:p>
          <a:p>
            <a:pPr algn="ctr"/>
            <a:fld id="{7DABA579-DE0C-4F2E-A06D-19833EA51114}" type="slidenum">
              <a:rPr lang="it-IT" sz="1600" smtClean="0">
                <a:cs typeface="Calibri Light"/>
              </a:rPr>
              <a:t>8</a:t>
            </a:fld>
            <a:endParaRPr lang="en-US" sz="1600" dirty="0">
              <a:cs typeface="Calibri Light"/>
            </a:endParaRPr>
          </a:p>
        </p:txBody>
      </p:sp>
      <p:pic>
        <p:nvPicPr>
          <p:cNvPr id="6" name="Picture 2" descr="Identidad Visual Corporativa">
            <a:extLst>
              <a:ext uri="{FF2B5EF4-FFF2-40B4-BE49-F238E27FC236}">
                <a16:creationId xmlns:a16="http://schemas.microsoft.com/office/drawing/2014/main" id="{B61AFAFD-8A2F-6DD5-755F-DC5017F28B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9" r="71013" b="-1"/>
          <a:stretch>
            <a:fillRect/>
          </a:stretch>
        </p:blipFill>
        <p:spPr bwMode="auto">
          <a:xfrm>
            <a:off x="62755" y="209551"/>
            <a:ext cx="1083140" cy="67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950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62AC29-F0BD-A70A-539E-57C0A000D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C49B47-050D-2645-B056-FB418D5D8EA9}"/>
              </a:ext>
            </a:extLst>
          </p:cNvPr>
          <p:cNvSpPr/>
          <p:nvPr/>
        </p:nvSpPr>
        <p:spPr>
          <a:xfrm>
            <a:off x="0" y="0"/>
            <a:ext cx="6903720" cy="6858000"/>
          </a:xfrm>
          <a:prstGeom prst="rect">
            <a:avLst/>
          </a:prstGeom>
          <a:solidFill>
            <a:srgbClr val="B61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C5F72D7-DCA7-3E5E-EC63-33EC93FDB08F}"/>
              </a:ext>
            </a:extLst>
          </p:cNvPr>
          <p:cNvSpPr txBox="1">
            <a:spLocks/>
          </p:cNvSpPr>
          <p:nvPr/>
        </p:nvSpPr>
        <p:spPr>
          <a:xfrm>
            <a:off x="-335280" y="2219520"/>
            <a:ext cx="7520940" cy="24189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cs typeface="Calibri Light"/>
              </a:rPr>
              <a:t>Thank you for </a:t>
            </a:r>
          </a:p>
          <a:p>
            <a:pPr algn="ctr"/>
            <a:r>
              <a:rPr lang="en-US" b="1" dirty="0">
                <a:cs typeface="Calibri Light"/>
              </a:rPr>
              <a:t>your attention</a:t>
            </a:r>
            <a:endParaRPr lang="it-IT" b="1" dirty="0">
              <a:solidFill>
                <a:srgbClr val="0D0D0D"/>
              </a:solidFill>
              <a:cs typeface="Calibri Light"/>
            </a:endParaRPr>
          </a:p>
        </p:txBody>
      </p:sp>
      <p:pic>
        <p:nvPicPr>
          <p:cNvPr id="1026" name="Picture 2" descr="Identidad Visual Corporativa">
            <a:extLst>
              <a:ext uri="{FF2B5EF4-FFF2-40B4-BE49-F238E27FC236}">
                <a16:creationId xmlns:a16="http://schemas.microsoft.com/office/drawing/2014/main" id="{0E3E020B-6FF6-7891-79E9-F13E431F9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544" y="5492048"/>
            <a:ext cx="4582688" cy="82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marca - Escuela Superior de Informática de UCLM">
            <a:extLst>
              <a:ext uri="{FF2B5EF4-FFF2-40B4-BE49-F238E27FC236}">
                <a16:creationId xmlns:a16="http://schemas.microsoft.com/office/drawing/2014/main" id="{544D1A00-FFC4-54BA-6C98-5B6E4071E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2528" y="279462"/>
            <a:ext cx="1122205" cy="89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948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6D875CB62D30546B7333748BB1E0C7E" ma:contentTypeVersion="12" ma:contentTypeDescription="Creare un nuovo documento." ma:contentTypeScope="" ma:versionID="0638796fddeff7492a30c3aab254a1b9">
  <xsd:schema xmlns:xsd="http://www.w3.org/2001/XMLSchema" xmlns:xs="http://www.w3.org/2001/XMLSchema" xmlns:p="http://schemas.microsoft.com/office/2006/metadata/properties" xmlns:ns3="1ce2f480-fc24-465d-9e13-d8b5f4576dec" targetNamespace="http://schemas.microsoft.com/office/2006/metadata/properties" ma:root="true" ma:fieldsID="da69681fa420a40a1e50cb42dcc60ce5" ns3:_="">
    <xsd:import namespace="1ce2f480-fc24-465d-9e13-d8b5f4576de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e2f480-fc24-465d-9e13-d8b5f4576de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ce2f480-fc24-465d-9e13-d8b5f4576de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705201-9D5A-4665-8DF5-696CE182A6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e2f480-fc24-465d-9e13-d8b5f4576d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76FB54-C375-47AC-A2A2-5080017F17EB}">
  <ds:schemaRefs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http://purl.org/dc/elements/1.1/"/>
    <ds:schemaRef ds:uri="http://www.w3.org/XML/1998/namespace"/>
    <ds:schemaRef ds:uri="http://schemas.openxmlformats.org/package/2006/metadata/core-properties"/>
    <ds:schemaRef ds:uri="1ce2f480-fc24-465d-9e13-d8b5f4576dec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C591AC6-311A-44F2-9CBD-52245269675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5807</TotalTime>
  <Words>940</Words>
  <Application>Microsoft Office PowerPoint</Application>
  <PresentationFormat>Widescreen</PresentationFormat>
  <Paragraphs>117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The security challenge</vt:lpstr>
      <vt:lpstr>First look at Vault</vt:lpstr>
      <vt:lpstr>Vault: use cases</vt:lpstr>
      <vt:lpstr>Core and Architecure</vt:lpstr>
      <vt:lpstr>Typical Workflow</vt:lpstr>
      <vt:lpstr>Concepts</vt:lpstr>
      <vt:lpstr>Hands-On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Edoardo.Frapiccini</dc:creator>
  <cp:lastModifiedBy>Matteo Amagliani</cp:lastModifiedBy>
  <cp:revision>144</cp:revision>
  <dcterms:created xsi:type="dcterms:W3CDTF">2023-12-21T14:55:20Z</dcterms:created>
  <dcterms:modified xsi:type="dcterms:W3CDTF">2026-01-23T14:58:19Z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0x01010016D875CB62D30546B7333748BB1E0C7E</vt:lpwstr>
  </property>
</Properties>
</file>